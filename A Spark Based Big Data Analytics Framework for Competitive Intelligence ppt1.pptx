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0"/>
  </p:notesMasterIdLst>
  <p:sldIdLst>
    <p:sldId id="256" r:id="rId2"/>
    <p:sldId id="257" r:id="rId3"/>
    <p:sldId id="258" r:id="rId4"/>
    <p:sldId id="259" r:id="rId5"/>
    <p:sldId id="260" r:id="rId6"/>
    <p:sldId id="261" r:id="rId7"/>
    <p:sldId id="262" r:id="rId8"/>
    <p:sldId id="272" r:id="rId9"/>
    <p:sldId id="263" r:id="rId10"/>
    <p:sldId id="273" r:id="rId11"/>
    <p:sldId id="265" r:id="rId12"/>
    <p:sldId id="264" r:id="rId13"/>
    <p:sldId id="276" r:id="rId14"/>
    <p:sldId id="277" r:id="rId15"/>
    <p:sldId id="266" r:id="rId16"/>
    <p:sldId id="274" r:id="rId17"/>
    <p:sldId id="275" r:id="rId18"/>
    <p:sldId id="267" r:id="rId19"/>
    <p:sldId id="268" r:id="rId20"/>
    <p:sldId id="269" r:id="rId21"/>
    <p:sldId id="270" r:id="rId22"/>
    <p:sldId id="279" r:id="rId23"/>
    <p:sldId id="280" r:id="rId24"/>
    <p:sldId id="281" r:id="rId25"/>
    <p:sldId id="282" r:id="rId26"/>
    <p:sldId id="283" r:id="rId27"/>
    <p:sldId id="271" r:id="rId28"/>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76FB0-773B-488B-8E27-D9F7DD4BE09F}" type="datetimeFigureOut">
              <a:rPr lang="en-IN" smtClean="0"/>
              <a:t>25-06-2025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D9FBAB-F1A0-405B-9D06-9A782A85FA83}" type="slidenum">
              <a:rPr lang="en-IN" smtClean="0"/>
              <a:t>‹#›</a:t>
            </a:fld>
            <a:endParaRPr lang="en-IN"/>
          </a:p>
        </p:txBody>
      </p:sp>
    </p:spTree>
    <p:extLst>
      <p:ext uri="{BB962C8B-B14F-4D97-AF65-F5344CB8AC3E}">
        <p14:creationId xmlns:p14="http://schemas.microsoft.com/office/powerpoint/2010/main" val="70838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D9FBAB-F1A0-405B-9D06-9A782A85FA83}" type="slidenum">
              <a:rPr lang="en-IN" smtClean="0"/>
              <a:t>1</a:t>
            </a:fld>
            <a:endParaRPr lang="en-IN"/>
          </a:p>
        </p:txBody>
      </p:sp>
    </p:spTree>
    <p:extLst>
      <p:ext uri="{BB962C8B-B14F-4D97-AF65-F5344CB8AC3E}">
        <p14:creationId xmlns:p14="http://schemas.microsoft.com/office/powerpoint/2010/main" val="398286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D9FBAB-F1A0-405B-9D06-9A782A85FA83}" type="slidenum">
              <a:rPr lang="en-IN" smtClean="0"/>
              <a:t>23</a:t>
            </a:fld>
            <a:endParaRPr lang="en-IN"/>
          </a:p>
        </p:txBody>
      </p:sp>
    </p:spTree>
    <p:extLst>
      <p:ext uri="{BB962C8B-B14F-4D97-AF65-F5344CB8AC3E}">
        <p14:creationId xmlns:p14="http://schemas.microsoft.com/office/powerpoint/2010/main" val="94298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D32F27-34D0-4404-B3AE-5688C8760553}" type="datetimeFigureOut">
              <a:rPr lang="en-IN" smtClean="0"/>
              <a:t>25-06-2025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3521797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32F27-34D0-4404-B3AE-5688C8760553}" type="datetimeFigureOut">
              <a:rPr lang="en-IN" smtClean="0"/>
              <a:t>25-06-2025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928922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D32F27-34D0-4404-B3AE-5688C8760553}" type="datetimeFigureOut">
              <a:rPr lang="en-IN" smtClean="0"/>
              <a:t>25-06-2025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3326599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8D32F27-34D0-4404-B3AE-5688C8760553}" type="datetimeFigureOut">
              <a:rPr lang="en-IN" smtClean="0"/>
              <a:t>25-06-2025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1216773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8D32F27-34D0-4404-B3AE-5688C8760553}" type="datetimeFigureOut">
              <a:rPr lang="en-IN" smtClean="0"/>
              <a:t>25-06-2025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21612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8D32F27-34D0-4404-B3AE-5688C8760553}" type="datetimeFigureOut">
              <a:rPr lang="en-IN" smtClean="0"/>
              <a:t>25-06-2025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2151895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D32F27-34D0-4404-B3AE-5688C8760553}" type="datetimeFigureOut">
              <a:rPr lang="en-IN" smtClean="0"/>
              <a:t>25-06-2025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501746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D32F27-34D0-4404-B3AE-5688C8760553}" type="datetimeFigureOut">
              <a:rPr lang="en-IN" smtClean="0"/>
              <a:t>25-06-2025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3925960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D32F27-34D0-4404-B3AE-5688C8760553}" type="datetimeFigureOut">
              <a:rPr lang="en-IN" smtClean="0"/>
              <a:t>25-06-2025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2054818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D32F27-34D0-4404-B3AE-5688C8760553}" type="datetimeFigureOut">
              <a:rPr lang="en-IN" smtClean="0"/>
              <a:t>25-06-2025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1756054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D32F27-34D0-4404-B3AE-5688C8760553}" type="datetimeFigureOut">
              <a:rPr lang="en-IN" smtClean="0"/>
              <a:t>25-06-2025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DA576F-8C02-400E-978C-B5D6E0617648}"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94004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8D32F27-34D0-4404-B3AE-5688C8760553}" type="datetimeFigureOut">
              <a:rPr lang="en-IN" smtClean="0"/>
              <a:t>25-06-2025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364372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8D32F27-34D0-4404-B3AE-5688C8760553}" type="datetimeFigureOut">
              <a:rPr lang="en-IN" smtClean="0"/>
              <a:t>25-06-2025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DA576F-8C02-400E-978C-B5D6E0617648}"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2757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8D32F27-34D0-4404-B3AE-5688C8760553}" type="datetimeFigureOut">
              <a:rPr lang="en-IN" smtClean="0"/>
              <a:t>25-06-2025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3412874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32F27-34D0-4404-B3AE-5688C8760553}" type="datetimeFigureOut">
              <a:rPr lang="en-IN" smtClean="0"/>
              <a:t>25-06-2025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2336460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32F27-34D0-4404-B3AE-5688C8760553}" type="datetimeFigureOut">
              <a:rPr lang="en-IN" smtClean="0"/>
              <a:t>25-06-2025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DA576F-8C02-400E-978C-B5D6E0617648}" type="slidenum">
              <a:rPr lang="en-IN" smtClean="0"/>
              <a:t>‹#›</a:t>
            </a:fld>
            <a:endParaRPr lang="en-IN"/>
          </a:p>
        </p:txBody>
      </p:sp>
    </p:spTree>
    <p:extLst>
      <p:ext uri="{BB962C8B-B14F-4D97-AF65-F5344CB8AC3E}">
        <p14:creationId xmlns:p14="http://schemas.microsoft.com/office/powerpoint/2010/main" val="1125283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8D32F27-34D0-4404-B3AE-5688C8760553}" type="datetimeFigureOut">
              <a:rPr lang="en-IN" smtClean="0"/>
              <a:t>25-06-2025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DA576F-8C02-400E-978C-B5D6E0617648}" type="slidenum">
              <a:rPr lang="en-IN" smtClean="0"/>
              <a:t>‹#›</a:t>
            </a:fld>
            <a:endParaRPr lang="en-IN"/>
          </a:p>
        </p:txBody>
      </p:sp>
    </p:spTree>
    <p:extLst>
      <p:ext uri="{BB962C8B-B14F-4D97-AF65-F5344CB8AC3E}">
        <p14:creationId xmlns:p14="http://schemas.microsoft.com/office/powerpoint/2010/main" val="390135754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hyperlink" Target="https://pixabay.com/en/thank-you-gratitude-appreciation-49060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283128-9F9B-8BE2-37C2-888FA63DB5B6}"/>
              </a:ext>
            </a:extLst>
          </p:cNvPr>
          <p:cNvPicPr>
            <a:picLocks noChangeAspect="1"/>
          </p:cNvPicPr>
          <p:nvPr/>
        </p:nvPicPr>
        <p:blipFill>
          <a:blip r:embed="rId3"/>
          <a:stretch>
            <a:fillRect/>
          </a:stretch>
        </p:blipFill>
        <p:spPr>
          <a:xfrm>
            <a:off x="0" y="-30144"/>
            <a:ext cx="12192000" cy="1960711"/>
          </a:xfrm>
          <a:prstGeom prst="rect">
            <a:avLst/>
          </a:prstGeom>
        </p:spPr>
      </p:pic>
      <p:sp>
        <p:nvSpPr>
          <p:cNvPr id="5" name="TextBox 4">
            <a:extLst>
              <a:ext uri="{FF2B5EF4-FFF2-40B4-BE49-F238E27FC236}">
                <a16:creationId xmlns:a16="http://schemas.microsoft.com/office/drawing/2014/main" id="{ED3FFE65-4039-E104-C4FB-664615936DEC}"/>
              </a:ext>
            </a:extLst>
          </p:cNvPr>
          <p:cNvSpPr txBox="1"/>
          <p:nvPr/>
        </p:nvSpPr>
        <p:spPr>
          <a:xfrm>
            <a:off x="569902" y="2738938"/>
            <a:ext cx="11416908" cy="461665"/>
          </a:xfrm>
          <a:prstGeom prst="rect">
            <a:avLst/>
          </a:prstGeom>
          <a:noFill/>
        </p:spPr>
        <p:txBody>
          <a:bodyPr wrap="none" rtlCol="0">
            <a:spAutoFit/>
          </a:bodyPr>
          <a:lstStyle/>
          <a:p>
            <a:r>
              <a:rPr lang="en-US" sz="2400" b="1" dirty="0"/>
              <a:t>A Spark – Based Big Data Analytics Framework For Competitive Intelligence</a:t>
            </a:r>
            <a:endParaRPr lang="en-IN" sz="2400" b="1" dirty="0"/>
          </a:p>
        </p:txBody>
      </p:sp>
      <p:sp>
        <p:nvSpPr>
          <p:cNvPr id="6" name="TextBox 5">
            <a:extLst>
              <a:ext uri="{FF2B5EF4-FFF2-40B4-BE49-F238E27FC236}">
                <a16:creationId xmlns:a16="http://schemas.microsoft.com/office/drawing/2014/main" id="{083743F3-9E88-9CDF-CE2A-3946C17304E2}"/>
              </a:ext>
            </a:extLst>
          </p:cNvPr>
          <p:cNvSpPr txBox="1"/>
          <p:nvPr/>
        </p:nvSpPr>
        <p:spPr>
          <a:xfrm>
            <a:off x="3904950" y="3623865"/>
            <a:ext cx="4746812" cy="1200329"/>
          </a:xfrm>
          <a:prstGeom prst="rect">
            <a:avLst/>
          </a:prstGeom>
          <a:noFill/>
        </p:spPr>
        <p:txBody>
          <a:bodyPr wrap="none" rtlCol="0">
            <a:spAutoFit/>
          </a:bodyPr>
          <a:lstStyle/>
          <a:p>
            <a:r>
              <a:rPr lang="en-IN" sz="1800" b="1" dirty="0"/>
              <a:t>217Q1A6728 -  M . Srinivas </a:t>
            </a:r>
          </a:p>
          <a:p>
            <a:r>
              <a:rPr lang="en-IN" sz="1800" b="1" dirty="0"/>
              <a:t>217Q1A6730 -  M . Rohith Kumar Chary    </a:t>
            </a:r>
          </a:p>
          <a:p>
            <a:r>
              <a:rPr lang="en-IN" sz="1800" b="1" dirty="0"/>
              <a:t>217Q1A6722 -  J  . Nagaraju  </a:t>
            </a:r>
          </a:p>
          <a:p>
            <a:r>
              <a:rPr lang="en-IN" sz="1800" b="1" dirty="0"/>
              <a:t>217Q1A6741 -  Sakshi Amit Goswami</a:t>
            </a:r>
            <a:endParaRPr lang="en-IN" dirty="0"/>
          </a:p>
        </p:txBody>
      </p:sp>
      <p:sp>
        <p:nvSpPr>
          <p:cNvPr id="7" name="TextBox 6">
            <a:extLst>
              <a:ext uri="{FF2B5EF4-FFF2-40B4-BE49-F238E27FC236}">
                <a16:creationId xmlns:a16="http://schemas.microsoft.com/office/drawing/2014/main" id="{FD164E54-FA38-CBE1-FFA3-902BAB4EFB43}"/>
              </a:ext>
            </a:extLst>
          </p:cNvPr>
          <p:cNvSpPr txBox="1"/>
          <p:nvPr/>
        </p:nvSpPr>
        <p:spPr>
          <a:xfrm>
            <a:off x="1020682" y="5320805"/>
            <a:ext cx="3106941" cy="954107"/>
          </a:xfrm>
          <a:prstGeom prst="rect">
            <a:avLst/>
          </a:prstGeom>
          <a:noFill/>
        </p:spPr>
        <p:txBody>
          <a:bodyPr wrap="none" rtlCol="0">
            <a:spAutoFit/>
          </a:bodyPr>
          <a:lstStyle/>
          <a:p>
            <a:r>
              <a:rPr lang="en-IN" sz="1800" b="1" dirty="0"/>
              <a:t>                Guide : </a:t>
            </a:r>
          </a:p>
          <a:p>
            <a:r>
              <a:rPr lang="en-IN" sz="1800" b="1" dirty="0">
                <a:solidFill>
                  <a:srgbClr val="FF0000"/>
                </a:solidFill>
              </a:rPr>
              <a:t>    Mr. T.</a:t>
            </a:r>
            <a:r>
              <a:rPr lang="en-IN" sz="1800" b="1" dirty="0">
                <a:solidFill>
                  <a:srgbClr val="C00000"/>
                </a:solidFill>
              </a:rPr>
              <a:t>  </a:t>
            </a:r>
            <a:r>
              <a:rPr lang="en-IN" sz="2000" b="1" dirty="0">
                <a:solidFill>
                  <a:srgbClr val="FF0000"/>
                </a:solidFill>
              </a:rPr>
              <a:t>Ravinder Reddy</a:t>
            </a:r>
          </a:p>
          <a:p>
            <a:endParaRPr lang="en-IN" dirty="0"/>
          </a:p>
        </p:txBody>
      </p:sp>
      <p:sp>
        <p:nvSpPr>
          <p:cNvPr id="8" name="TextBox 7">
            <a:extLst>
              <a:ext uri="{FF2B5EF4-FFF2-40B4-BE49-F238E27FC236}">
                <a16:creationId xmlns:a16="http://schemas.microsoft.com/office/drawing/2014/main" id="{43C87F4A-93C4-B134-924C-3CB269FDC526}"/>
              </a:ext>
            </a:extLst>
          </p:cNvPr>
          <p:cNvSpPr txBox="1"/>
          <p:nvPr/>
        </p:nvSpPr>
        <p:spPr>
          <a:xfrm>
            <a:off x="8756920" y="5353135"/>
            <a:ext cx="3150221" cy="923330"/>
          </a:xfrm>
          <a:prstGeom prst="rect">
            <a:avLst/>
          </a:prstGeom>
          <a:noFill/>
        </p:spPr>
        <p:txBody>
          <a:bodyPr wrap="none" rtlCol="0">
            <a:spAutoFit/>
          </a:bodyPr>
          <a:lstStyle/>
          <a:p>
            <a:r>
              <a:rPr lang="en-IN" b="1" dirty="0"/>
              <a:t>                    HOD :</a:t>
            </a:r>
          </a:p>
          <a:p>
            <a:r>
              <a:rPr lang="en-IN" sz="1800" b="1" dirty="0">
                <a:solidFill>
                  <a:srgbClr val="C00000"/>
                </a:solidFill>
              </a:rPr>
              <a:t>        </a:t>
            </a:r>
            <a:r>
              <a:rPr lang="en-IN" sz="1600" b="1" dirty="0">
                <a:solidFill>
                  <a:srgbClr val="FF0000"/>
                </a:solidFill>
              </a:rPr>
              <a:t> Mr. T.</a:t>
            </a:r>
            <a:r>
              <a:rPr lang="en-IN" sz="1600" b="1" dirty="0">
                <a:solidFill>
                  <a:srgbClr val="C00000"/>
                </a:solidFill>
              </a:rPr>
              <a:t>  </a:t>
            </a:r>
            <a:r>
              <a:rPr lang="en-IN" sz="1800" b="1" dirty="0">
                <a:solidFill>
                  <a:srgbClr val="FF0000"/>
                </a:solidFill>
              </a:rPr>
              <a:t>Ravinder Reddy</a:t>
            </a:r>
          </a:p>
          <a:p>
            <a:endParaRPr lang="en-IN" dirty="0"/>
          </a:p>
        </p:txBody>
      </p:sp>
      <p:sp>
        <p:nvSpPr>
          <p:cNvPr id="9" name="TextBox 8">
            <a:extLst>
              <a:ext uri="{FF2B5EF4-FFF2-40B4-BE49-F238E27FC236}">
                <a16:creationId xmlns:a16="http://schemas.microsoft.com/office/drawing/2014/main" id="{9DFAA7AD-0B98-7DB9-7754-F1B49534325C}"/>
              </a:ext>
            </a:extLst>
          </p:cNvPr>
          <p:cNvSpPr txBox="1"/>
          <p:nvPr/>
        </p:nvSpPr>
        <p:spPr>
          <a:xfrm>
            <a:off x="485920" y="2315676"/>
            <a:ext cx="1069524" cy="553998"/>
          </a:xfrm>
          <a:prstGeom prst="rect">
            <a:avLst/>
          </a:prstGeom>
          <a:noFill/>
        </p:spPr>
        <p:txBody>
          <a:bodyPr wrap="none" rtlCol="0">
            <a:spAutoFit/>
          </a:bodyPr>
          <a:lstStyle/>
          <a:p>
            <a:r>
              <a:rPr lang="en-IN" sz="1200" b="1" dirty="0"/>
              <a:t>Project Title</a:t>
            </a:r>
            <a:r>
              <a:rPr lang="en-IN" sz="1200" dirty="0"/>
              <a:t>:</a:t>
            </a:r>
          </a:p>
          <a:p>
            <a:endParaRPr lang="en-IN" dirty="0"/>
          </a:p>
        </p:txBody>
      </p:sp>
    </p:spTree>
    <p:extLst>
      <p:ext uri="{BB962C8B-B14F-4D97-AF65-F5344CB8AC3E}">
        <p14:creationId xmlns:p14="http://schemas.microsoft.com/office/powerpoint/2010/main" val="1933675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64609-8B5C-9029-9353-3756126CCA9C}"/>
              </a:ext>
            </a:extLst>
          </p:cNvPr>
          <p:cNvSpPr>
            <a:spLocks noGrp="1"/>
          </p:cNvSpPr>
          <p:nvPr>
            <p:ph type="title"/>
          </p:nvPr>
        </p:nvSpPr>
        <p:spPr/>
        <p:txBody>
          <a:bodyPr/>
          <a:lstStyle/>
          <a:p>
            <a:pPr algn="ctr"/>
            <a:r>
              <a:rPr lang="en-IN" b="1" dirty="0"/>
              <a:t>Content</a:t>
            </a:r>
            <a:endParaRPr lang="en-IN" dirty="0"/>
          </a:p>
        </p:txBody>
      </p:sp>
      <p:sp>
        <p:nvSpPr>
          <p:cNvPr id="3" name="TextBox 2">
            <a:extLst>
              <a:ext uri="{FF2B5EF4-FFF2-40B4-BE49-F238E27FC236}">
                <a16:creationId xmlns:a16="http://schemas.microsoft.com/office/drawing/2014/main" id="{C7439D1D-0DAF-BD75-24B6-C827CBF533A9}"/>
              </a:ext>
            </a:extLst>
          </p:cNvPr>
          <p:cNvSpPr txBox="1"/>
          <p:nvPr/>
        </p:nvSpPr>
        <p:spPr>
          <a:xfrm>
            <a:off x="2473589" y="1712495"/>
            <a:ext cx="3110147" cy="4678204"/>
          </a:xfrm>
          <a:prstGeom prst="rect">
            <a:avLst/>
          </a:prstGeom>
          <a:noFill/>
        </p:spPr>
        <p:txBody>
          <a:bodyPr wrap="none" rtlCol="0">
            <a:spAutoFit/>
          </a:bodyPr>
          <a:lstStyle/>
          <a:p>
            <a:pPr marL="285750" indent="-285750">
              <a:buFont typeface="Arial" panose="020B0604020202020204" pitchFamily="34" charset="0"/>
              <a:buChar char="•"/>
            </a:pPr>
            <a:r>
              <a:rPr lang="en-US" sz="2000" b="1" dirty="0"/>
              <a:t>Aim of the project</a:t>
            </a:r>
          </a:p>
          <a:p>
            <a:pPr marL="285750" indent="-285750">
              <a:buFont typeface="Arial" panose="020B0604020202020204" pitchFamily="34" charset="0"/>
              <a:buChar char="•"/>
            </a:pPr>
            <a:r>
              <a:rPr lang="en-US" sz="2000" b="1" dirty="0"/>
              <a:t>Abstract</a:t>
            </a:r>
          </a:p>
          <a:p>
            <a:pPr marL="285750" indent="-285750">
              <a:buFont typeface="Arial" panose="020B0604020202020204" pitchFamily="34" charset="0"/>
              <a:buChar char="•"/>
            </a:pPr>
            <a:r>
              <a:rPr lang="en-US" sz="2000" b="1" dirty="0"/>
              <a:t>Introduction</a:t>
            </a:r>
          </a:p>
          <a:p>
            <a:pPr marL="285750" indent="-285750">
              <a:buFont typeface="Arial" panose="020B0604020202020204" pitchFamily="34" charset="0"/>
              <a:buChar char="•"/>
            </a:pPr>
            <a:r>
              <a:rPr lang="en-US" sz="2000" b="1" dirty="0"/>
              <a:t>Existing System</a:t>
            </a:r>
          </a:p>
          <a:p>
            <a:pPr marL="285750" indent="-285750">
              <a:buFont typeface="Arial" panose="020B0604020202020204" pitchFamily="34" charset="0"/>
              <a:buChar char="•"/>
            </a:pPr>
            <a:r>
              <a:rPr lang="en-US" sz="2000" b="1" dirty="0"/>
              <a:t>Proposed System</a:t>
            </a:r>
          </a:p>
          <a:p>
            <a:pPr marL="285750" indent="-285750">
              <a:buFont typeface="Arial" panose="020B0604020202020204" pitchFamily="34" charset="0"/>
              <a:buChar char="•"/>
            </a:pPr>
            <a:r>
              <a:rPr lang="en-US" sz="2000" b="1" dirty="0"/>
              <a:t>Modules</a:t>
            </a:r>
          </a:p>
          <a:p>
            <a:pPr marL="285750" indent="-285750">
              <a:buFont typeface="Arial" panose="020B0604020202020204" pitchFamily="34" charset="0"/>
              <a:buChar char="•"/>
            </a:pPr>
            <a:r>
              <a:rPr lang="en-US" sz="2000" b="1" dirty="0"/>
              <a:t>System Requirements</a:t>
            </a:r>
          </a:p>
          <a:p>
            <a:pPr marL="285750" indent="-285750">
              <a:buFont typeface="Arial" panose="020B0604020202020204" pitchFamily="34" charset="0"/>
              <a:buChar char="•"/>
            </a:pPr>
            <a:r>
              <a:rPr lang="en-US" sz="2000" b="1" dirty="0"/>
              <a:t>Feasibility Study</a:t>
            </a:r>
          </a:p>
          <a:p>
            <a:pPr marL="285750" indent="-285750">
              <a:buFont typeface="Arial" panose="020B0604020202020204" pitchFamily="34" charset="0"/>
              <a:buChar char="•"/>
            </a:pPr>
            <a:r>
              <a:rPr lang="en-US" sz="2000" b="1" dirty="0"/>
              <a:t>Algorithm</a:t>
            </a:r>
          </a:p>
          <a:p>
            <a:pPr marL="285750" indent="-285750">
              <a:buFont typeface="Arial" panose="020B0604020202020204" pitchFamily="34" charset="0"/>
              <a:buChar char="•"/>
            </a:pPr>
            <a:r>
              <a:rPr lang="en-US" sz="2000" b="1" dirty="0"/>
              <a:t>UML Diagrams</a:t>
            </a:r>
          </a:p>
          <a:p>
            <a:pPr marL="285750" indent="-285750">
              <a:buFont typeface="Arial" panose="020B0604020202020204" pitchFamily="34" charset="0"/>
              <a:buChar char="•"/>
            </a:pPr>
            <a:r>
              <a:rPr lang="en-US" sz="2000" b="1" dirty="0"/>
              <a:t>Screen-shorts</a:t>
            </a:r>
          </a:p>
          <a:p>
            <a:pPr marL="285750" indent="-285750">
              <a:buFont typeface="Arial" panose="020B0604020202020204" pitchFamily="34" charset="0"/>
              <a:buChar char="•"/>
            </a:pPr>
            <a:r>
              <a:rPr lang="en-US" sz="2000" b="1" dirty="0"/>
              <a:t>System Testing</a:t>
            </a:r>
          </a:p>
          <a:p>
            <a:pPr marL="285750" indent="-285750">
              <a:buFont typeface="Arial" panose="020B0604020202020204" pitchFamily="34" charset="0"/>
              <a:buChar char="•"/>
            </a:pPr>
            <a:r>
              <a:rPr lang="en-US" sz="2000" b="1" dirty="0"/>
              <a:t>Conclusion </a:t>
            </a:r>
          </a:p>
          <a:p>
            <a:endParaRPr lang="en-US" sz="2000" b="1" dirty="0"/>
          </a:p>
          <a:p>
            <a:endParaRPr lang="en-IN" dirty="0"/>
          </a:p>
        </p:txBody>
      </p:sp>
    </p:spTree>
    <p:extLst>
      <p:ext uri="{BB962C8B-B14F-4D97-AF65-F5344CB8AC3E}">
        <p14:creationId xmlns:p14="http://schemas.microsoft.com/office/powerpoint/2010/main" val="469834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4227-F894-58B5-1671-18519BEB062C}"/>
              </a:ext>
            </a:extLst>
          </p:cNvPr>
          <p:cNvSpPr>
            <a:spLocks noGrp="1"/>
          </p:cNvSpPr>
          <p:nvPr>
            <p:ph type="title"/>
          </p:nvPr>
        </p:nvSpPr>
        <p:spPr>
          <a:xfrm>
            <a:off x="1973492" y="437297"/>
            <a:ext cx="8911687" cy="1280890"/>
          </a:xfrm>
        </p:spPr>
        <p:txBody>
          <a:bodyPr/>
          <a:lstStyle/>
          <a:p>
            <a:pPr algn="ctr"/>
            <a:r>
              <a:rPr lang="en-US" sz="3600" b="1" dirty="0"/>
              <a:t>Aim of the project </a:t>
            </a:r>
            <a:br>
              <a:rPr lang="en-US" sz="3600" b="1" dirty="0"/>
            </a:br>
            <a:endParaRPr lang="en-IN" dirty="0"/>
          </a:p>
        </p:txBody>
      </p:sp>
      <p:sp>
        <p:nvSpPr>
          <p:cNvPr id="6" name="Rectangle 3">
            <a:extLst>
              <a:ext uri="{FF2B5EF4-FFF2-40B4-BE49-F238E27FC236}">
                <a16:creationId xmlns:a16="http://schemas.microsoft.com/office/drawing/2014/main" id="{09DCAE86-35B6-EC64-B213-48FF76FD5A82}"/>
              </a:ext>
            </a:extLst>
          </p:cNvPr>
          <p:cNvSpPr>
            <a:spLocks noChangeArrowheads="1"/>
          </p:cNvSpPr>
          <p:nvPr/>
        </p:nvSpPr>
        <p:spPr bwMode="auto">
          <a:xfrm>
            <a:off x="1622322" y="1885336"/>
            <a:ext cx="9832258"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aim of the project </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u="none" strike="noStrike" cap="none" normalizeH="0" baseline="0" dirty="0">
                <a:ln>
                  <a:noFill/>
                </a:ln>
                <a:solidFill>
                  <a:schemeClr val="tx1"/>
                </a:solidFill>
                <a:effectLst/>
                <a:latin typeface="Arial" panose="020B0604020202020204" pitchFamily="34" charset="0"/>
              </a:rPr>
              <a:t>A Spark-Based Big Data Analytics Framework for Competitive Intelligence</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is to develop a scalable and efficient big data analytics system using Apache Spark to extract, process, and analyze large volumes of structured and unstructured data. This framework is designed to support competitive intelligence by enabling real-time analytics, predictive modeling, and visualization to help organizations gain strategic insights into market dynamics, competitor behavior, and emerging trends. Ultimately, the project seeks to empower decision-makers with data-driven insights to enhance their strategic planning and maintain a competitive advantage.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9481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1A6D3-BF0D-71CB-2310-7B3E0547B021}"/>
              </a:ext>
            </a:extLst>
          </p:cNvPr>
          <p:cNvSpPr>
            <a:spLocks noGrp="1"/>
          </p:cNvSpPr>
          <p:nvPr>
            <p:ph type="title"/>
          </p:nvPr>
        </p:nvSpPr>
        <p:spPr>
          <a:xfrm>
            <a:off x="1521208" y="938742"/>
            <a:ext cx="8911687" cy="1280890"/>
          </a:xfrm>
        </p:spPr>
        <p:txBody>
          <a:bodyPr/>
          <a:lstStyle/>
          <a:p>
            <a:pPr algn="ctr"/>
            <a:r>
              <a:rPr lang="en-US" sz="3600" b="1" dirty="0"/>
              <a:t>Abstract</a:t>
            </a:r>
            <a:br>
              <a:rPr lang="en-US" sz="3600" b="1" dirty="0"/>
            </a:br>
            <a:endParaRPr lang="en-IN" dirty="0"/>
          </a:p>
        </p:txBody>
      </p:sp>
      <p:sp>
        <p:nvSpPr>
          <p:cNvPr id="3" name="TextBox 2">
            <a:extLst>
              <a:ext uri="{FF2B5EF4-FFF2-40B4-BE49-F238E27FC236}">
                <a16:creationId xmlns:a16="http://schemas.microsoft.com/office/drawing/2014/main" id="{F6F45F7E-2D3F-A5BF-17B0-FA514E43909F}"/>
              </a:ext>
            </a:extLst>
          </p:cNvPr>
          <p:cNvSpPr txBox="1"/>
          <p:nvPr/>
        </p:nvSpPr>
        <p:spPr>
          <a:xfrm>
            <a:off x="1521208" y="2205588"/>
            <a:ext cx="9815386" cy="2446824"/>
          </a:xfrm>
          <a:prstGeom prst="rect">
            <a:avLst/>
          </a:prstGeom>
          <a:noFill/>
        </p:spPr>
        <p:txBody>
          <a:bodyPr wrap="square" rtlCol="0">
            <a:spAutoFit/>
          </a:bodyPr>
          <a:lstStyle/>
          <a:p>
            <a:pPr algn="just">
              <a:lnSpc>
                <a:spcPct val="150000"/>
              </a:lnSpc>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The project on "A Spark-Based Big Data Analytics Framework for Competitive Intelligence" introduces an innovative solution for harnessing the power of big data analytics to gain strategic insights into competitive landscapes. Leveraging Apache Spark as the core engine, the framework facilitates the processing and analysis of large-scale datasets, enabling organizations to make informed decisions in dynamic business environments.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3466584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BAD1-01B7-1D21-70C0-7D6A92562248}"/>
              </a:ext>
            </a:extLst>
          </p:cNvPr>
          <p:cNvSpPr>
            <a:spLocks noGrp="1"/>
          </p:cNvSpPr>
          <p:nvPr>
            <p:ph type="title"/>
          </p:nvPr>
        </p:nvSpPr>
        <p:spPr>
          <a:xfrm>
            <a:off x="3890782" y="692936"/>
            <a:ext cx="8911687" cy="1280890"/>
          </a:xfrm>
        </p:spPr>
        <p:txBody>
          <a:bodyPr/>
          <a:lstStyle/>
          <a:p>
            <a:r>
              <a:rPr lang="en-US" sz="3600" b="1" dirty="0"/>
              <a:t>      Introduction</a:t>
            </a:r>
            <a:br>
              <a:rPr lang="en-US" sz="3600" b="1" dirty="0"/>
            </a:br>
            <a:endParaRPr lang="en-IN" dirty="0"/>
          </a:p>
        </p:txBody>
      </p:sp>
      <p:sp>
        <p:nvSpPr>
          <p:cNvPr id="3" name="TextBox 2">
            <a:extLst>
              <a:ext uri="{FF2B5EF4-FFF2-40B4-BE49-F238E27FC236}">
                <a16:creationId xmlns:a16="http://schemas.microsoft.com/office/drawing/2014/main" id="{CE2601BD-45E5-77EE-1617-658C0C1722C7}"/>
              </a:ext>
            </a:extLst>
          </p:cNvPr>
          <p:cNvSpPr txBox="1"/>
          <p:nvPr/>
        </p:nvSpPr>
        <p:spPr>
          <a:xfrm>
            <a:off x="1678210" y="1851063"/>
            <a:ext cx="9801727" cy="4314001"/>
          </a:xfrm>
          <a:prstGeom prst="rect">
            <a:avLst/>
          </a:prstGeom>
          <a:noFill/>
        </p:spPr>
        <p:txBody>
          <a:bodyPr wrap="square" rtlCol="0">
            <a:spAutoFit/>
          </a:bodyPr>
          <a:lstStyle/>
          <a:p>
            <a:pPr algn="just">
              <a:lnSpc>
                <a:spcPct val="150000"/>
              </a:lnSpc>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In today's fast-paced business landscape, competitive intelligence plays a pivotal role in driving organizational success. This project focuses on the development of a robust big data analytics framework powered by Apache Spark, aiming to provide businesses with the tools and capabilities needed to extract meaningful insights from vast and diverse datasets for strategic decision-making. </a:t>
            </a:r>
          </a:p>
          <a:p>
            <a:pPr algn="just">
              <a:lnSpc>
                <a:spcPct val="150000"/>
              </a:lnSpc>
              <a:spcAft>
                <a:spcPts val="800"/>
              </a:spcAft>
              <a:buNone/>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Key Features: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tabLst>
                <a:tab pos="457200" algn="l"/>
              </a:tabLst>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Apache Spark Integration:</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The framework leverages the distributed computing capabilities of Apache</a:t>
            </a:r>
            <a:r>
              <a:rPr lang="en-US" kern="100" dirty="0">
                <a:latin typeface="Times New Roman" panose="02020603050405020304" pitchFamily="18" charset="0"/>
                <a:ea typeface="Calibri" panose="020F0502020204030204" pitchFamily="34" charset="0"/>
                <a:cs typeface="Mangal" panose="02040503050203030202" pitchFamily="18" charset="0"/>
              </a:rPr>
              <a:t> </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Spark to efficiently process and analyze large volumes of structured and unstructured </a:t>
            </a:r>
            <a:r>
              <a:rPr lang="en-US" sz="1800" kern="100" dirty="0" err="1">
                <a:effectLst/>
                <a:latin typeface="Times New Roman" panose="02020603050405020304" pitchFamily="18" charset="0"/>
                <a:ea typeface="Calibri" panose="020F0502020204030204" pitchFamily="34" charset="0"/>
                <a:cs typeface="Mangal" panose="02040503050203030202" pitchFamily="18" charset="0"/>
              </a:rPr>
              <a:t>data.This</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ensures scalability and high-performance analytics for competitive intelligence tasks.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pP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789898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738B63-E3EE-4839-6FB3-531CDA88E374}"/>
              </a:ext>
            </a:extLst>
          </p:cNvPr>
          <p:cNvSpPr txBox="1"/>
          <p:nvPr/>
        </p:nvSpPr>
        <p:spPr>
          <a:xfrm>
            <a:off x="1450516" y="829014"/>
            <a:ext cx="10058400" cy="6181179"/>
          </a:xfrm>
          <a:prstGeom prst="rect">
            <a:avLst/>
          </a:prstGeom>
          <a:noFill/>
        </p:spPr>
        <p:txBody>
          <a:bodyPr wrap="square" rtlCol="0">
            <a:spAutoFit/>
          </a:bodyPr>
          <a:lstStyle/>
          <a:p>
            <a:pPr marL="342900" lvl="0" indent="-342900" algn="just">
              <a:lnSpc>
                <a:spcPct val="150000"/>
              </a:lnSpc>
              <a:spcAft>
                <a:spcPts val="800"/>
              </a:spcAft>
              <a:buNone/>
              <a:tabLst>
                <a:tab pos="457200" algn="l"/>
              </a:tabLst>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Real-time Data Processing:</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The framework enables real-time data processing, allowing organizations to stay abreast of dynamic changes in the competitive landscape. Real-time analytics empower decision-makers to respond promptly to market shifts and emerging trends.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None/>
              <a:tabLst>
                <a:tab pos="457200" algn="l"/>
              </a:tabLst>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Competitive Landscape Mapping:</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Through sophisticated algorithms and machine learning techniques, the framework provides tools for mapping the competitive landscape. This includes identifying key players, assessing market share dynamics, and uncovering patterns that influence competitive positioning.</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None/>
              <a:tabLst>
                <a:tab pos="457200" algn="l"/>
              </a:tabLst>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Predictive Analytics:</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Employing advanced predictive analytics models, the framework aids in forecasting market trends and competitor behaviors. This forward-looking approach enables organizations to proactively adapt strategies and capitalize on emerging opportunities.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tabLst>
                <a:tab pos="457200" algn="l"/>
              </a:tabLst>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Scalable Architecture:</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The architecture of the framework is designed for scalability, allowing seamless integration with varying data sources and accommodating the growing demands of big data analytics. This ensures flexibility in adapting to evolving business requirements.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1570090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8E220-39BD-CAB7-E808-D6163A136A45}"/>
              </a:ext>
            </a:extLst>
          </p:cNvPr>
          <p:cNvSpPr>
            <a:spLocks noGrp="1"/>
          </p:cNvSpPr>
          <p:nvPr>
            <p:ph type="title"/>
          </p:nvPr>
        </p:nvSpPr>
        <p:spPr>
          <a:xfrm>
            <a:off x="1543902" y="427465"/>
            <a:ext cx="8911687" cy="1280890"/>
          </a:xfrm>
        </p:spPr>
        <p:txBody>
          <a:bodyPr/>
          <a:lstStyle/>
          <a:p>
            <a:pPr algn="ctr"/>
            <a:r>
              <a:rPr lang="en-US" b="1" dirty="0"/>
              <a:t>Existing System</a:t>
            </a:r>
            <a:br>
              <a:rPr lang="en-US" sz="3600" b="1" dirty="0"/>
            </a:br>
            <a:endParaRPr lang="en-IN" dirty="0"/>
          </a:p>
        </p:txBody>
      </p:sp>
      <p:sp>
        <p:nvSpPr>
          <p:cNvPr id="3" name="TextBox 2">
            <a:extLst>
              <a:ext uri="{FF2B5EF4-FFF2-40B4-BE49-F238E27FC236}">
                <a16:creationId xmlns:a16="http://schemas.microsoft.com/office/drawing/2014/main" id="{CD559FFB-9570-67B3-994C-791D1D952053}"/>
              </a:ext>
            </a:extLst>
          </p:cNvPr>
          <p:cNvSpPr txBox="1"/>
          <p:nvPr/>
        </p:nvSpPr>
        <p:spPr>
          <a:xfrm>
            <a:off x="1396180" y="1708355"/>
            <a:ext cx="10170695" cy="369331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In the current landscape, many organizations rely on traditional business intelligence (BI) tools, relational databases, and batch processing frameworks to analyze their data. These systems are generally effective for small to medium-sized datasets and historical reporting, but they fall short when faced with the scale, variety, and velocity of big data. Traditional BI tools are often limited to static dashboards and lack support for real-time analytics. Relational databases struggle with unstructured data, and batch processing systems like Hadoop MapReduce are slow and inefficient for dynamic or iterative analysis. Additionally, these systems typically offer limited integration with machine learning models and fail to provide deep insights from complex datasets, making them inadequate for advanced competitive intelligence tasks.</a:t>
            </a:r>
          </a:p>
          <a:p>
            <a:endParaRPr lang="en-IN" dirty="0"/>
          </a:p>
        </p:txBody>
      </p:sp>
    </p:spTree>
    <p:extLst>
      <p:ext uri="{BB962C8B-B14F-4D97-AF65-F5344CB8AC3E}">
        <p14:creationId xmlns:p14="http://schemas.microsoft.com/office/powerpoint/2010/main" val="1391037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304B-7A2D-FEEE-CF5B-2C5B5E79E445}"/>
              </a:ext>
            </a:extLst>
          </p:cNvPr>
          <p:cNvSpPr>
            <a:spLocks noGrp="1"/>
          </p:cNvSpPr>
          <p:nvPr>
            <p:ph type="title"/>
          </p:nvPr>
        </p:nvSpPr>
        <p:spPr>
          <a:xfrm>
            <a:off x="1421710" y="437297"/>
            <a:ext cx="8911687" cy="1280890"/>
          </a:xfrm>
        </p:spPr>
        <p:txBody>
          <a:bodyPr/>
          <a:lstStyle/>
          <a:p>
            <a:r>
              <a:rPr lang="en-US" b="1" dirty="0"/>
              <a:t>Disadvantages:</a:t>
            </a:r>
            <a:endParaRPr lang="en-IN" b="1" dirty="0"/>
          </a:p>
        </p:txBody>
      </p:sp>
      <p:sp>
        <p:nvSpPr>
          <p:cNvPr id="4" name="Rectangle 1">
            <a:extLst>
              <a:ext uri="{FF2B5EF4-FFF2-40B4-BE49-F238E27FC236}">
                <a16:creationId xmlns:a16="http://schemas.microsoft.com/office/drawing/2014/main" id="{A7A91752-026A-FC9C-B513-752451F047F2}"/>
              </a:ext>
            </a:extLst>
          </p:cNvPr>
          <p:cNvSpPr>
            <a:spLocks noChangeArrowheads="1"/>
          </p:cNvSpPr>
          <p:nvPr/>
        </p:nvSpPr>
        <p:spPr bwMode="auto">
          <a:xfrm>
            <a:off x="1421710" y="1585063"/>
            <a:ext cx="8051756" cy="873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BI tools and relational databases cannot efficiently handle large datasets.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Excel file crashes when processing millions of customer transactions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Rectangle 2">
            <a:extLst>
              <a:ext uri="{FF2B5EF4-FFF2-40B4-BE49-F238E27FC236}">
                <a16:creationId xmlns:a16="http://schemas.microsoft.com/office/drawing/2014/main" id="{16DFF3CD-4D7D-7787-0503-662BEC18FF00}"/>
              </a:ext>
            </a:extLst>
          </p:cNvPr>
          <p:cNvSpPr>
            <a:spLocks noChangeArrowheads="1"/>
          </p:cNvSpPr>
          <p:nvPr/>
        </p:nvSpPr>
        <p:spPr bwMode="auto">
          <a:xfrm>
            <a:off x="1394202" y="2556197"/>
            <a:ext cx="8106771" cy="87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Hadoop MapReduce and similar tools take hours for batch jobs.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Analyzing product reviews for sentiment takes 5 hours using MapReduce.</a:t>
            </a:r>
          </a:p>
        </p:txBody>
      </p:sp>
    </p:spTree>
    <p:extLst>
      <p:ext uri="{BB962C8B-B14F-4D97-AF65-F5344CB8AC3E}">
        <p14:creationId xmlns:p14="http://schemas.microsoft.com/office/powerpoint/2010/main" val="1317279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8357A-9390-22C7-D200-74B407C9252E}"/>
              </a:ext>
            </a:extLst>
          </p:cNvPr>
          <p:cNvSpPr>
            <a:spLocks noGrp="1"/>
          </p:cNvSpPr>
          <p:nvPr>
            <p:ph type="title"/>
          </p:nvPr>
        </p:nvSpPr>
        <p:spPr>
          <a:xfrm>
            <a:off x="1540872" y="456961"/>
            <a:ext cx="8911687" cy="1280890"/>
          </a:xfrm>
        </p:spPr>
        <p:txBody>
          <a:bodyPr/>
          <a:lstStyle/>
          <a:p>
            <a:pPr algn="ctr"/>
            <a:r>
              <a:rPr lang="en-US" sz="3600" b="1" dirty="0"/>
              <a:t>Proposed System</a:t>
            </a:r>
            <a:br>
              <a:rPr lang="en-US" sz="3600" b="1" dirty="0"/>
            </a:br>
            <a:endParaRPr lang="en-IN" dirty="0"/>
          </a:p>
        </p:txBody>
      </p:sp>
      <p:sp>
        <p:nvSpPr>
          <p:cNvPr id="3" name="TextBox 2">
            <a:extLst>
              <a:ext uri="{FF2B5EF4-FFF2-40B4-BE49-F238E27FC236}">
                <a16:creationId xmlns:a16="http://schemas.microsoft.com/office/drawing/2014/main" id="{65D59BA8-E07E-94DC-26BF-1D922067B79B}"/>
              </a:ext>
            </a:extLst>
          </p:cNvPr>
          <p:cNvSpPr txBox="1"/>
          <p:nvPr/>
        </p:nvSpPr>
        <p:spPr>
          <a:xfrm>
            <a:off x="914919" y="1602658"/>
            <a:ext cx="10766674" cy="419755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To address these challenges, a Spark-based big data analytics framework for competitive intelligence is proposed. This system leverages Apache Spark’s in-memory distributed computing capabilities to efficiently process and analyze vast volumes of both structured and unstructured data. By integrating machine learning techniques such as Latent Dirichlet Allocation (LDA) and Latent Semantic Analysis (LSA), the framework can automatically extract key topics and patterns from large datasets, such as scientific publications or customer reviews. The use of real-time data processing enables organizations to respond quickly to market changes, while scalable storage solutions like Hadoop ensure flexibility and performance. Additionally, the framework supports rich visualizations using tools like Graph X and Matplotlib, enhancing interpretability for stakeholders. In doing so, the proposed system overcomes the limitations of traditional analytics approaches, offering a modern, intelligent, and scalable solution for gaining strategic insights in competitive environments.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8359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AB199-ADBC-F051-58B7-BD61808C292F}"/>
              </a:ext>
            </a:extLst>
          </p:cNvPr>
          <p:cNvSpPr>
            <a:spLocks noGrp="1"/>
          </p:cNvSpPr>
          <p:nvPr>
            <p:ph type="title"/>
          </p:nvPr>
        </p:nvSpPr>
        <p:spPr>
          <a:xfrm>
            <a:off x="1671478" y="466794"/>
            <a:ext cx="8911687" cy="1280890"/>
          </a:xfrm>
        </p:spPr>
        <p:txBody>
          <a:bodyPr/>
          <a:lstStyle/>
          <a:p>
            <a:r>
              <a:rPr lang="en-US" b="1" dirty="0"/>
              <a:t>Advantages:</a:t>
            </a:r>
            <a:br>
              <a:rPr lang="en-US" b="1" dirty="0"/>
            </a:br>
            <a:endParaRPr lang="en-IN" b="1" dirty="0"/>
          </a:p>
        </p:txBody>
      </p:sp>
      <p:sp>
        <p:nvSpPr>
          <p:cNvPr id="4" name="Rectangle 1">
            <a:extLst>
              <a:ext uri="{FF2B5EF4-FFF2-40B4-BE49-F238E27FC236}">
                <a16:creationId xmlns:a16="http://schemas.microsoft.com/office/drawing/2014/main" id="{4A72C415-25AA-FB85-EF52-F47D99649DE9}"/>
              </a:ext>
            </a:extLst>
          </p:cNvPr>
          <p:cNvSpPr>
            <a:spLocks noChangeArrowheads="1"/>
          </p:cNvSpPr>
          <p:nvPr/>
        </p:nvSpPr>
        <p:spPr bwMode="auto">
          <a:xfrm>
            <a:off x="1671478" y="1667996"/>
            <a:ext cx="7850291" cy="873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Spark distributes data across nodes, handles huge datasets smoothly.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Analyzing 10 million product reviews in minutes using a Spark cluster</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6" name="Rectangle 2">
            <a:extLst>
              <a:ext uri="{FF2B5EF4-FFF2-40B4-BE49-F238E27FC236}">
                <a16:creationId xmlns:a16="http://schemas.microsoft.com/office/drawing/2014/main" id="{EA3EE179-D0CB-E44A-39AF-2CCCE49FDFAC}"/>
              </a:ext>
            </a:extLst>
          </p:cNvPr>
          <p:cNvSpPr>
            <a:spLocks noChangeArrowheads="1"/>
          </p:cNvSpPr>
          <p:nvPr/>
        </p:nvSpPr>
        <p:spPr bwMode="auto">
          <a:xfrm>
            <a:off x="1671478" y="2801242"/>
            <a:ext cx="8741496" cy="873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Processes data much faster than Hadoop due to in-memory execution.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Running topic modeling on abstracts completes in 10 minutes instead of 3 hours.</a:t>
            </a:r>
          </a:p>
        </p:txBody>
      </p:sp>
    </p:spTree>
    <p:extLst>
      <p:ext uri="{BB962C8B-B14F-4D97-AF65-F5344CB8AC3E}">
        <p14:creationId xmlns:p14="http://schemas.microsoft.com/office/powerpoint/2010/main" val="3204341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5808F-AD91-BE89-6354-63445D60AA17}"/>
              </a:ext>
            </a:extLst>
          </p:cNvPr>
          <p:cNvSpPr>
            <a:spLocks noGrp="1"/>
          </p:cNvSpPr>
          <p:nvPr>
            <p:ph type="title"/>
          </p:nvPr>
        </p:nvSpPr>
        <p:spPr>
          <a:xfrm>
            <a:off x="1481879" y="624110"/>
            <a:ext cx="8911687" cy="1280890"/>
          </a:xfrm>
        </p:spPr>
        <p:txBody>
          <a:bodyPr/>
          <a:lstStyle/>
          <a:p>
            <a:pPr algn="ctr"/>
            <a:r>
              <a:rPr lang="en-US" sz="3600" b="1" dirty="0"/>
              <a:t>Modules</a:t>
            </a:r>
            <a:br>
              <a:rPr lang="en-US" sz="3600" b="1" dirty="0"/>
            </a:br>
            <a:endParaRPr lang="en-IN" dirty="0"/>
          </a:p>
        </p:txBody>
      </p:sp>
      <p:sp>
        <p:nvSpPr>
          <p:cNvPr id="3" name="TextBox 2">
            <a:extLst>
              <a:ext uri="{FF2B5EF4-FFF2-40B4-BE49-F238E27FC236}">
                <a16:creationId xmlns:a16="http://schemas.microsoft.com/office/drawing/2014/main" id="{AF35C893-F54A-6CD3-AE34-AAD14991E120}"/>
              </a:ext>
            </a:extLst>
          </p:cNvPr>
          <p:cNvSpPr txBox="1"/>
          <p:nvPr/>
        </p:nvSpPr>
        <p:spPr>
          <a:xfrm>
            <a:off x="951864" y="1745622"/>
            <a:ext cx="10552747" cy="3366755"/>
          </a:xfrm>
          <a:prstGeom prst="rect">
            <a:avLst/>
          </a:prstGeom>
          <a:noFill/>
        </p:spPr>
        <p:txBody>
          <a:bodyPr wrap="square" rtlCol="0">
            <a:spAutoFit/>
          </a:bodyPr>
          <a:lstStyle/>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1. Upload Historical Trajectory Dataset : Upload Historical Trajectory Dataset’ button and upload dataset.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2. Generate Train &amp; Test Model  :Generate Train &amp; Test Model’ button to read dataset and to split dataset into train and test part to generate machine learning train model</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3. Run MLP </a:t>
            </a:r>
            <a:r>
              <a:rPr lang="en-US" sz="1800" kern="100" dirty="0" err="1">
                <a:effectLst/>
                <a:latin typeface="Times New Roman" panose="02020603050405020304" pitchFamily="18" charset="0"/>
                <a:ea typeface="Calibri" panose="020F0502020204030204" pitchFamily="34" charset="0"/>
                <a:cs typeface="Mangal" panose="02040503050203030202" pitchFamily="18" charset="0"/>
              </a:rPr>
              <a:t>Algorithm:Run</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MLP Algorithm’ button to train MLP model and to calculate its accuracy.</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4. Run DDS with Genetic Algorithm : Run DDS with Genetic Algorithm button to train DDS and to calculate its prediction accuracy.</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5. Predict DDS Type :Predict DDS Type’ button to predict test data</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818530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0E84-859C-2500-D0F8-90FCFA684326}"/>
              </a:ext>
            </a:extLst>
          </p:cNvPr>
          <p:cNvSpPr>
            <a:spLocks noGrp="1"/>
          </p:cNvSpPr>
          <p:nvPr>
            <p:ph type="title"/>
          </p:nvPr>
        </p:nvSpPr>
        <p:spPr/>
        <p:txBody>
          <a:bodyPr/>
          <a:lstStyle/>
          <a:p>
            <a:r>
              <a:rPr lang="en-US" sz="3600" b="1" dirty="0"/>
              <a:t>System Requirements</a:t>
            </a:r>
            <a:endParaRPr lang="en-IN" dirty="0"/>
          </a:p>
        </p:txBody>
      </p:sp>
      <p:sp>
        <p:nvSpPr>
          <p:cNvPr id="3" name="TextBox 2">
            <a:extLst>
              <a:ext uri="{FF2B5EF4-FFF2-40B4-BE49-F238E27FC236}">
                <a16:creationId xmlns:a16="http://schemas.microsoft.com/office/drawing/2014/main" id="{E82047CC-6D39-E93B-2543-A1AE873FB38D}"/>
              </a:ext>
            </a:extLst>
          </p:cNvPr>
          <p:cNvSpPr txBox="1"/>
          <p:nvPr/>
        </p:nvSpPr>
        <p:spPr>
          <a:xfrm>
            <a:off x="2371031" y="1905000"/>
            <a:ext cx="4971682" cy="4156651"/>
          </a:xfrm>
          <a:prstGeom prst="rect">
            <a:avLst/>
          </a:prstGeom>
          <a:noFill/>
        </p:spPr>
        <p:txBody>
          <a:bodyPr wrap="none" rtlCol="0">
            <a:spAutoFit/>
          </a:bodyPr>
          <a:lstStyle/>
          <a:p>
            <a:pPr algn="just">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HARD REQUIRMENTS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Times New Roman" panose="02020603050405020304" pitchFamily="18" charset="0"/>
                <a:cs typeface="Mangal" panose="02040503050203030202" pitchFamily="18" charset="0"/>
              </a:rPr>
              <a:t>System   		:  	i3 or above.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Times New Roman" panose="02020603050405020304" pitchFamily="18" charset="0"/>
                <a:cs typeface="Mangal" panose="02040503050203030202" pitchFamily="18" charset="0"/>
              </a:rPr>
              <a:t>Ram   		:  	4 GB.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Times New Roman" panose="02020603050405020304" pitchFamily="18" charset="0"/>
                <a:cs typeface="Mangal" panose="02040503050203030202" pitchFamily="18" charset="0"/>
              </a:rPr>
              <a:t>Hard Disk          :       40 GB</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a:t>
            </a: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SOFTWARE REQUIRMENTS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Times New Roman" panose="02020603050405020304" pitchFamily="18" charset="0"/>
                <a:cs typeface="Mangal" panose="02040503050203030202" pitchFamily="18" charset="0"/>
              </a:rPr>
              <a:t>Operating system  	:  	Windows8 or Above.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1800" kern="100" dirty="0">
                <a:effectLst/>
                <a:latin typeface="Times New Roman" panose="02020603050405020304" pitchFamily="18" charset="0"/>
                <a:ea typeface="Times New Roman" panose="02020603050405020304" pitchFamily="18" charset="0"/>
                <a:cs typeface="Mangal" panose="02040503050203030202" pitchFamily="18" charset="0"/>
              </a:rPr>
              <a:t>Coding Language 	: 	python</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2855739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E8EA9-8EFE-101F-179E-90DF80159C79}"/>
              </a:ext>
            </a:extLst>
          </p:cNvPr>
          <p:cNvSpPr>
            <a:spLocks noGrp="1"/>
          </p:cNvSpPr>
          <p:nvPr>
            <p:ph type="title"/>
          </p:nvPr>
        </p:nvSpPr>
        <p:spPr>
          <a:xfrm>
            <a:off x="1928914" y="535712"/>
            <a:ext cx="8911687" cy="1280890"/>
          </a:xfrm>
        </p:spPr>
        <p:txBody>
          <a:bodyPr>
            <a:normAutofit/>
          </a:bodyPr>
          <a:lstStyle/>
          <a:p>
            <a:pPr algn="ctr"/>
            <a:r>
              <a:rPr lang="en-US" b="1" dirty="0">
                <a:effectLst/>
                <a:ea typeface="Calibri" panose="020F0502020204030204" pitchFamily="34" charset="0"/>
                <a:cs typeface="Mangal" panose="02040503050203030202" pitchFamily="18" charset="0"/>
              </a:rPr>
              <a:t>Feasibility Study</a:t>
            </a:r>
            <a:endParaRPr lang="en-IN" b="1" dirty="0"/>
          </a:p>
        </p:txBody>
      </p:sp>
      <p:sp>
        <p:nvSpPr>
          <p:cNvPr id="3" name="TextBox 2">
            <a:extLst>
              <a:ext uri="{FF2B5EF4-FFF2-40B4-BE49-F238E27FC236}">
                <a16:creationId xmlns:a16="http://schemas.microsoft.com/office/drawing/2014/main" id="{93DB7C4E-5666-61B9-8BCF-A19A59509E39}"/>
              </a:ext>
            </a:extLst>
          </p:cNvPr>
          <p:cNvSpPr txBox="1"/>
          <p:nvPr/>
        </p:nvSpPr>
        <p:spPr>
          <a:xfrm>
            <a:off x="946483" y="1442976"/>
            <a:ext cx="10876548" cy="4524315"/>
          </a:xfrm>
          <a:prstGeom prst="rect">
            <a:avLst/>
          </a:prstGeom>
          <a:noFill/>
        </p:spPr>
        <p:txBody>
          <a:bodyPr wrap="square" rtlCol="0">
            <a:spAutoFit/>
          </a:bodyPr>
          <a:lstStyle/>
          <a:p>
            <a:pPr algn="just">
              <a:lnSpc>
                <a:spcPct val="150000"/>
              </a:lnSpc>
              <a:buNone/>
            </a:pPr>
            <a:r>
              <a:rPr lang="en-US" sz="1800" b="0" dirty="0">
                <a:effectLst/>
                <a:latin typeface="Times New Roman" panose="02020603050405020304" pitchFamily="18" charset="0"/>
                <a:ea typeface="Times New Roman" panose="02020603050405020304" pitchFamily="18" charset="0"/>
              </a:rPr>
              <a:t>The feasibility of the project is analyzed in this phase and business proposal is put forth with a very general plan for the project and some cost estimates. During system analysis the feasibility study of the proposed system is to be carried out. This is to ensure that the proposed system is not a burden to the company.  For feasibility analysis, some understanding of the major requirements for the system is essential.</a:t>
            </a:r>
            <a:endParaRPr lang="en-IN" sz="1800" b="1" dirty="0">
              <a:effectLst/>
              <a:latin typeface="Times New Roman" panose="02020603050405020304" pitchFamily="18" charset="0"/>
              <a:ea typeface="Times New Roman" panose="02020603050405020304" pitchFamily="18" charset="0"/>
            </a:endParaRPr>
          </a:p>
          <a:p>
            <a:pPr algn="just">
              <a:lnSpc>
                <a:spcPct val="150000"/>
              </a:lnSpc>
              <a:buNone/>
            </a:pPr>
            <a:r>
              <a:rPr lang="en-US" sz="1800" dirty="0">
                <a:effectLst/>
                <a:latin typeface="Times New Roman" panose="02020603050405020304" pitchFamily="18" charset="0"/>
                <a:ea typeface="Calibri" panose="020F0502020204030204" pitchFamily="34" charset="0"/>
              </a:rPr>
              <a:t>Three key considerations involved in the feasibility analysis are:  </a:t>
            </a:r>
          </a:p>
          <a:p>
            <a:pPr algn="just">
              <a:lnSpc>
                <a:spcPct val="150000"/>
              </a:lnSpc>
              <a:buNone/>
            </a:pPr>
            <a:r>
              <a:rPr lang="en-US" sz="1800" b="1" dirty="0">
                <a:effectLst/>
                <a:latin typeface="Times New Roman" panose="02020603050405020304" pitchFamily="18" charset="0"/>
                <a:ea typeface="Times New Roman" panose="02020603050405020304" pitchFamily="18" charset="0"/>
                <a:cs typeface="Mangal" panose="02040503050203030202" pitchFamily="18" charset="0"/>
              </a:rPr>
              <a:t>ECONOMICAL FEASIBILITY</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p>
            <a:pPr algn="just">
              <a:lnSpc>
                <a:spcPct val="150000"/>
              </a:lnSpc>
              <a:buNone/>
            </a:pPr>
            <a:r>
              <a:rPr lang="en-US" sz="1800" b="1"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This study is carried out to check the economic impact that the system will have on the organization. The amount of fund that the company can pour into the research and development of the system is limited. The expenditures must be justified. Thus the developed system as well within the budget and this was achieved because most of the technologies used are freely available. Only the customized products had to be purchased.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buNone/>
            </a:pPr>
            <a:endParaRPr lang="en-IN" dirty="0"/>
          </a:p>
        </p:txBody>
      </p:sp>
    </p:spTree>
    <p:extLst>
      <p:ext uri="{BB962C8B-B14F-4D97-AF65-F5344CB8AC3E}">
        <p14:creationId xmlns:p14="http://schemas.microsoft.com/office/powerpoint/2010/main" val="2135716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66EAEA-5B9C-A0E6-AB3D-8C209169727E}"/>
              </a:ext>
            </a:extLst>
          </p:cNvPr>
          <p:cNvSpPr txBox="1"/>
          <p:nvPr/>
        </p:nvSpPr>
        <p:spPr>
          <a:xfrm>
            <a:off x="1469147" y="563544"/>
            <a:ext cx="10395284" cy="5899051"/>
          </a:xfrm>
          <a:prstGeom prst="rect">
            <a:avLst/>
          </a:prstGeom>
          <a:noFill/>
        </p:spPr>
        <p:txBody>
          <a:bodyPr wrap="square" rtlCol="0">
            <a:spAutoFit/>
          </a:bodyPr>
          <a:lstStyle/>
          <a:p>
            <a:pPr algn="just">
              <a:lnSpc>
                <a:spcPct val="150000"/>
              </a:lnSpc>
              <a:buNone/>
            </a:pPr>
            <a:r>
              <a:rPr lang="en-US" sz="1800" b="1" dirty="0">
                <a:effectLst/>
                <a:latin typeface="Times New Roman" panose="02020603050405020304" pitchFamily="18" charset="0"/>
                <a:ea typeface="Times New Roman" panose="02020603050405020304" pitchFamily="18" charset="0"/>
                <a:cs typeface="Mangal" panose="02040503050203030202" pitchFamily="18" charset="0"/>
              </a:rPr>
              <a:t>TECHNICAL FEASIBILI</a:t>
            </a:r>
            <a:r>
              <a:rPr lang="en-US" b="1" dirty="0">
                <a:latin typeface="Times New Roman" panose="02020603050405020304" pitchFamily="18" charset="0"/>
                <a:ea typeface="Times New Roman" panose="02020603050405020304" pitchFamily="18" charset="0"/>
                <a:cs typeface="Mangal" panose="02040503050203030202" pitchFamily="18" charset="0"/>
              </a:rPr>
              <a:t>TY</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p>
            <a:pPr algn="just">
              <a:lnSpc>
                <a:spcPct val="150000"/>
              </a:lnSpc>
              <a:buNone/>
            </a:pPr>
            <a:r>
              <a:rPr lang="en-US" sz="1800" b="1" dirty="0">
                <a:effectLst/>
                <a:latin typeface="Times New Roman" panose="02020603050405020304" pitchFamily="18" charset="0"/>
                <a:ea typeface="Times New Roman" panose="02020603050405020304" pitchFamily="18" charset="0"/>
                <a:cs typeface="Mangal" panose="02040503050203030202" pitchFamily="18" charset="0"/>
              </a:rPr>
              <a:t> </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This study is carried out to check the technical feasibility, that is, the technical requirements of the system. Any system developed must not have a high demand on the available technical resources. This will lead to high demands on the available technical resources. This will lead to high demands being placed on the client. The developed system must have a modest requirement, as only minimal or null changes are required for implementing this system.   </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p>
            <a:pPr algn="just">
              <a:lnSpc>
                <a:spcPct val="150000"/>
              </a:lnSpc>
              <a:spcBef>
                <a:spcPts val="1000"/>
              </a:spcBef>
              <a:buNone/>
            </a:pPr>
            <a:r>
              <a:rPr lang="en-US" sz="1800" b="1" dirty="0">
                <a:solidFill>
                  <a:srgbClr val="4472C4"/>
                </a:solidFill>
                <a:effectLst/>
                <a:latin typeface="Times New Roman" panose="02020603050405020304" pitchFamily="18" charset="0"/>
                <a:ea typeface="Times New Roman" panose="02020603050405020304" pitchFamily="18" charset="0"/>
                <a:cs typeface="Mangal" panose="02040503050203030202" pitchFamily="18" charset="0"/>
              </a:rPr>
              <a:t> </a:t>
            </a:r>
            <a:r>
              <a:rPr lang="en-US" sz="1800" b="1" dirty="0">
                <a:effectLst/>
                <a:latin typeface="Times New Roman" panose="02020603050405020304" pitchFamily="18" charset="0"/>
                <a:ea typeface="Times New Roman" panose="02020603050405020304" pitchFamily="18" charset="0"/>
                <a:cs typeface="Mangal" panose="02040503050203030202" pitchFamily="18" charset="0"/>
              </a:rPr>
              <a:t>SOCIAL FEASIBILITY</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p>
            <a:pPr algn="just">
              <a:lnSpc>
                <a:spcPct val="150000"/>
              </a:lnSpc>
              <a:buNone/>
            </a:pPr>
            <a:r>
              <a:rPr lang="en-US" sz="1800" b="1" dirty="0">
                <a:effectLst/>
                <a:latin typeface="Times New Roman" panose="02020603050405020304" pitchFamily="18" charset="0"/>
                <a:ea typeface="Times New Roman" panose="02020603050405020304" pitchFamily="18" charset="0"/>
                <a:cs typeface="Mangal" panose="02040503050203030202" pitchFamily="18" charset="0"/>
              </a:rPr>
              <a:t> </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The aspect of study is to check the level of acceptance of the system by the user. This includes the process of training the user to use the system efficiently. The user must not feel threatened by the system, instead must accept it as a necessity. The level of acceptance by the users solely depends on the methods that are employed to educate the user about the system and to make him familiar with it. His level of confidence must be raised so that he is also able to make some constructive criticism, which is welcomed, as he is the final user of the system.</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p>
            <a:endParaRPr lang="en-IN" dirty="0"/>
          </a:p>
        </p:txBody>
      </p:sp>
    </p:spTree>
    <p:extLst>
      <p:ext uri="{BB962C8B-B14F-4D97-AF65-F5344CB8AC3E}">
        <p14:creationId xmlns:p14="http://schemas.microsoft.com/office/powerpoint/2010/main" val="2743551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48052-F97C-8040-F663-5CC983287D06}"/>
              </a:ext>
            </a:extLst>
          </p:cNvPr>
          <p:cNvSpPr>
            <a:spLocks noGrp="1"/>
          </p:cNvSpPr>
          <p:nvPr>
            <p:ph type="title"/>
          </p:nvPr>
        </p:nvSpPr>
        <p:spPr>
          <a:xfrm>
            <a:off x="1640156" y="388136"/>
            <a:ext cx="8911687" cy="1280890"/>
          </a:xfrm>
        </p:spPr>
        <p:txBody>
          <a:bodyPr>
            <a:normAutofit fontScale="90000"/>
          </a:bodyPr>
          <a:lstStyle/>
          <a:p>
            <a:pPr algn="ctr"/>
            <a:r>
              <a:rPr lang="en-US" sz="4000" b="1" dirty="0">
                <a:cs typeface="Times New Roman" panose="02020603050405020304" pitchFamily="18" charset="0"/>
              </a:rPr>
              <a:t>Algorithms</a:t>
            </a:r>
            <a:br>
              <a:rPr lang="en-US" sz="3600" b="1" dirty="0">
                <a:cs typeface="Times New Roman" panose="02020603050405020304" pitchFamily="18" charset="0"/>
              </a:rPr>
            </a:br>
            <a:br>
              <a:rPr lang="en-US" sz="3600" b="1" dirty="0"/>
            </a:br>
            <a:endParaRPr lang="en-IN" dirty="0"/>
          </a:p>
        </p:txBody>
      </p:sp>
      <p:sp>
        <p:nvSpPr>
          <p:cNvPr id="3" name="TextBox 2">
            <a:extLst>
              <a:ext uri="{FF2B5EF4-FFF2-40B4-BE49-F238E27FC236}">
                <a16:creationId xmlns:a16="http://schemas.microsoft.com/office/drawing/2014/main" id="{AC671D74-441E-A032-66E3-3FE721DF8799}"/>
              </a:ext>
            </a:extLst>
          </p:cNvPr>
          <p:cNvSpPr txBox="1"/>
          <p:nvPr/>
        </p:nvSpPr>
        <p:spPr>
          <a:xfrm>
            <a:off x="1059815" y="1264555"/>
            <a:ext cx="10355437" cy="5770811"/>
          </a:xfrm>
          <a:prstGeom prst="rect">
            <a:avLst/>
          </a:prstGeom>
          <a:noFill/>
        </p:spPr>
        <p:txBody>
          <a:bodyPr wrap="square" rtlCol="0">
            <a:spAutoFit/>
          </a:bodyPr>
          <a:lstStyle/>
          <a:p>
            <a:pPr algn="just">
              <a:lnSpc>
                <a:spcPct val="150000"/>
              </a:lnSpc>
              <a:buNone/>
            </a:pPr>
            <a:r>
              <a:rPr lang="en-US" b="1" dirty="0">
                <a:latin typeface="Times New Roman" panose="02020603050405020304" pitchFamily="18" charset="0"/>
                <a:cs typeface="Times New Roman" panose="02020603050405020304" pitchFamily="18" charset="0"/>
              </a:rPr>
              <a:t>1. LDA (Latent Dirichlet Allocation)</a:t>
            </a:r>
          </a:p>
          <a:p>
            <a:pPr algn="just">
              <a:lnSpc>
                <a:spcPct val="150000"/>
              </a:lnSpc>
              <a:buNone/>
            </a:pPr>
            <a:r>
              <a:rPr lang="en-US" b="1" dirty="0">
                <a:latin typeface="Times New Roman" panose="02020603050405020304" pitchFamily="18" charset="0"/>
                <a:cs typeface="Times New Roman" panose="02020603050405020304" pitchFamily="18" charset="0"/>
              </a:rPr>
              <a:t>📌 Introduction:</a:t>
            </a:r>
          </a:p>
          <a:p>
            <a:pPr algn="just">
              <a:lnSpc>
                <a:spcPct val="150000"/>
              </a:lnSpc>
              <a:buNone/>
            </a:pPr>
            <a:r>
              <a:rPr lang="en-US" dirty="0">
                <a:latin typeface="Times New Roman" panose="02020603050405020304" pitchFamily="18" charset="0"/>
                <a:cs typeface="Times New Roman" panose="02020603050405020304" pitchFamily="18" charset="0"/>
              </a:rPr>
              <a:t>LDA is a popular </a:t>
            </a:r>
            <a:r>
              <a:rPr lang="en-US" b="1" dirty="0">
                <a:latin typeface="Times New Roman" panose="02020603050405020304" pitchFamily="18" charset="0"/>
                <a:cs typeface="Times New Roman" panose="02020603050405020304" pitchFamily="18" charset="0"/>
              </a:rPr>
              <a:t>topic modeling algorithm</a:t>
            </a:r>
            <a:r>
              <a:rPr lang="en-US" dirty="0">
                <a:latin typeface="Times New Roman" panose="02020603050405020304" pitchFamily="18" charset="0"/>
                <a:cs typeface="Times New Roman" panose="02020603050405020304" pitchFamily="18" charset="0"/>
              </a:rPr>
              <a:t> used to discover the hidden thematic structure in large text datasets. It assumes that each document is a mixture of topics and that each topic is a distribution over words.</a:t>
            </a:r>
          </a:p>
          <a:p>
            <a:pPr algn="just">
              <a:lnSpc>
                <a:spcPct val="150000"/>
              </a:lnSpc>
              <a:buNone/>
            </a:pPr>
            <a:r>
              <a:rPr lang="en-US" b="1" dirty="0">
                <a:latin typeface="Times New Roman" panose="02020603050405020304" pitchFamily="18" charset="0"/>
                <a:cs typeface="Times New Roman" panose="02020603050405020304" pitchFamily="18" charset="0"/>
              </a:rPr>
              <a:t>🧠 Use in Project:</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Applied to the abstracts of research papers.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identify the </a:t>
            </a:r>
            <a:r>
              <a:rPr lang="en-US" b="1" dirty="0">
                <a:latin typeface="Times New Roman" panose="02020603050405020304" pitchFamily="18" charset="0"/>
                <a:cs typeface="Times New Roman" panose="02020603050405020304" pitchFamily="18" charset="0"/>
              </a:rPr>
              <a:t>main topics</a:t>
            </a:r>
            <a:r>
              <a:rPr lang="en-US" dirty="0">
                <a:latin typeface="Times New Roman" panose="02020603050405020304" pitchFamily="18" charset="0"/>
                <a:cs typeface="Times New Roman" panose="02020603050405020304" pitchFamily="18" charset="0"/>
              </a:rPr>
              <a:t> each document discusses.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Spark MLlib is used to train the LDA model on TF-IDF features.</a:t>
            </a:r>
          </a:p>
          <a:p>
            <a:pPr algn="just">
              <a:lnSpc>
                <a:spcPct val="150000"/>
              </a:lnSpc>
              <a:buNone/>
            </a:pPr>
            <a:r>
              <a:rPr lang="en-US" b="1" dirty="0">
                <a:latin typeface="Times New Roman" panose="02020603050405020304" pitchFamily="18" charset="0"/>
                <a:cs typeface="Times New Roman" panose="02020603050405020304" pitchFamily="18" charset="0"/>
              </a:rPr>
              <a:t>🧾 Example:</a:t>
            </a:r>
          </a:p>
          <a:p>
            <a:pPr algn="just">
              <a:lnSpc>
                <a:spcPct val="150000"/>
              </a:lnSpc>
              <a:buNone/>
            </a:pPr>
            <a:r>
              <a:rPr lang="en-US" dirty="0">
                <a:latin typeface="Times New Roman" panose="02020603050405020304" pitchFamily="18" charset="0"/>
                <a:cs typeface="Times New Roman" panose="02020603050405020304" pitchFamily="18" charset="0"/>
              </a:rPr>
              <a:t>From a collection of blockchain-related papers, LDA may extract topics like:</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Cryptocurrency</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Smart Contracts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Blockchain Security</a:t>
            </a:r>
          </a:p>
          <a:p>
            <a:endParaRPr lang="en-IN" dirty="0"/>
          </a:p>
        </p:txBody>
      </p:sp>
    </p:spTree>
    <p:extLst>
      <p:ext uri="{BB962C8B-B14F-4D97-AF65-F5344CB8AC3E}">
        <p14:creationId xmlns:p14="http://schemas.microsoft.com/office/powerpoint/2010/main" val="1928096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71798B-94F9-8334-A641-D15ABEE75FD2}"/>
              </a:ext>
            </a:extLst>
          </p:cNvPr>
          <p:cNvSpPr txBox="1"/>
          <p:nvPr/>
        </p:nvSpPr>
        <p:spPr>
          <a:xfrm>
            <a:off x="1092417" y="1247661"/>
            <a:ext cx="9565752" cy="4939814"/>
          </a:xfrm>
          <a:prstGeom prst="rect">
            <a:avLst/>
          </a:prstGeom>
          <a:noFill/>
        </p:spPr>
        <p:txBody>
          <a:bodyPr wrap="square" rtlCol="0">
            <a:spAutoFit/>
          </a:bodyPr>
          <a:lstStyle/>
          <a:p>
            <a:pPr algn="just">
              <a:lnSpc>
                <a:spcPct val="150000"/>
              </a:lnSpc>
              <a:buNone/>
            </a:pPr>
            <a:r>
              <a:rPr lang="en-US" b="1" dirty="0">
                <a:latin typeface="Times New Roman" panose="02020603050405020304" pitchFamily="18" charset="0"/>
                <a:cs typeface="Times New Roman" panose="02020603050405020304" pitchFamily="18" charset="0"/>
              </a:rPr>
              <a:t>2. LSA (Latent Semantic Analysis)</a:t>
            </a:r>
          </a:p>
          <a:p>
            <a:pPr algn="just">
              <a:lnSpc>
                <a:spcPct val="150000"/>
              </a:lnSpc>
              <a:buNone/>
            </a:pPr>
            <a:r>
              <a:rPr lang="en-US" b="1" dirty="0">
                <a:latin typeface="Times New Roman" panose="02020603050405020304" pitchFamily="18" charset="0"/>
                <a:cs typeface="Times New Roman" panose="02020603050405020304" pitchFamily="18" charset="0"/>
              </a:rPr>
              <a:t>📌 Introduction:</a:t>
            </a:r>
          </a:p>
          <a:p>
            <a:pPr algn="just">
              <a:lnSpc>
                <a:spcPct val="150000"/>
              </a:lnSpc>
              <a:buNone/>
            </a:pPr>
            <a:r>
              <a:rPr lang="en-US" dirty="0">
                <a:latin typeface="Times New Roman" panose="02020603050405020304" pitchFamily="18" charset="0"/>
                <a:cs typeface="Times New Roman" panose="02020603050405020304" pitchFamily="18" charset="0"/>
              </a:rPr>
              <a:t>LSA (also called Latent Semantic Indexing) is a natural language processing technique that uncovers </a:t>
            </a:r>
            <a:r>
              <a:rPr lang="en-US" b="1" dirty="0">
                <a:latin typeface="Times New Roman" panose="02020603050405020304" pitchFamily="18" charset="0"/>
                <a:cs typeface="Times New Roman" panose="02020603050405020304" pitchFamily="18" charset="0"/>
              </a:rPr>
              <a:t>semantic relationships</a:t>
            </a:r>
            <a:r>
              <a:rPr lang="en-US" dirty="0">
                <a:latin typeface="Times New Roman" panose="02020603050405020304" pitchFamily="18" charset="0"/>
                <a:cs typeface="Times New Roman" panose="02020603050405020304" pitchFamily="18" charset="0"/>
              </a:rPr>
              <a:t> between words in documents. It uses </a:t>
            </a:r>
            <a:r>
              <a:rPr lang="en-US" b="1" dirty="0">
                <a:latin typeface="Times New Roman" panose="02020603050405020304" pitchFamily="18" charset="0"/>
                <a:cs typeface="Times New Roman" panose="02020603050405020304" pitchFamily="18" charset="0"/>
              </a:rPr>
              <a:t>Singular Value Decomposition (SVD)</a:t>
            </a:r>
            <a:r>
              <a:rPr lang="en-US" dirty="0">
                <a:latin typeface="Times New Roman" panose="02020603050405020304" pitchFamily="18" charset="0"/>
                <a:cs typeface="Times New Roman" panose="02020603050405020304" pitchFamily="18" charset="0"/>
              </a:rPr>
              <a:t> on the term-document matrix.</a:t>
            </a:r>
          </a:p>
          <a:p>
            <a:pPr algn="just">
              <a:lnSpc>
                <a:spcPct val="150000"/>
              </a:lnSpc>
              <a:buNone/>
            </a:pPr>
            <a:r>
              <a:rPr lang="en-US" b="1" dirty="0">
                <a:latin typeface="Times New Roman" panose="02020603050405020304" pitchFamily="18" charset="0"/>
                <a:cs typeface="Times New Roman" panose="02020603050405020304" pitchFamily="18" charset="0"/>
              </a:rPr>
              <a:t>🧠 Use in Project:</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Applied on TF-IDF matrices to extract </a:t>
            </a:r>
            <a:r>
              <a:rPr lang="en-US" b="1" dirty="0">
                <a:latin typeface="Times New Roman" panose="02020603050405020304" pitchFamily="18" charset="0"/>
                <a:cs typeface="Times New Roman" panose="02020603050405020304" pitchFamily="18" charset="0"/>
              </a:rPr>
              <a:t>semantically similar words</a:t>
            </a:r>
            <a:r>
              <a:rPr lang="en-US"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understand which words often appear in similar contexts.</a:t>
            </a:r>
          </a:p>
          <a:p>
            <a:pPr algn="just">
              <a:lnSpc>
                <a:spcPct val="150000"/>
              </a:lnSpc>
              <a:buNone/>
            </a:pPr>
            <a:r>
              <a:rPr lang="en-US" b="1" dirty="0">
                <a:latin typeface="Times New Roman" panose="02020603050405020304" pitchFamily="18" charset="0"/>
                <a:cs typeface="Times New Roman" panose="02020603050405020304" pitchFamily="18" charset="0"/>
              </a:rPr>
              <a:t>🧾 Example:</a:t>
            </a:r>
          </a:p>
          <a:p>
            <a:pPr algn="just">
              <a:lnSpc>
                <a:spcPct val="150000"/>
              </a:lnSpc>
              <a:buNone/>
            </a:pPr>
            <a:r>
              <a:rPr lang="en-US" dirty="0">
                <a:latin typeface="Times New Roman" panose="02020603050405020304" pitchFamily="18" charset="0"/>
                <a:cs typeface="Times New Roman" panose="02020603050405020304" pitchFamily="18" charset="0"/>
              </a:rPr>
              <a:t>From the term “Blockchain,” LSA might find semantically similar words like:</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Bitcoin, Ethereum, Crypto, Ledger</a:t>
            </a:r>
          </a:p>
          <a:p>
            <a:endParaRPr lang="en-IN" dirty="0"/>
          </a:p>
        </p:txBody>
      </p:sp>
    </p:spTree>
    <p:extLst>
      <p:ext uri="{BB962C8B-B14F-4D97-AF65-F5344CB8AC3E}">
        <p14:creationId xmlns:p14="http://schemas.microsoft.com/office/powerpoint/2010/main" val="4248403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D4079D-8C23-2FBD-0F2C-57133EBEEA67}"/>
              </a:ext>
            </a:extLst>
          </p:cNvPr>
          <p:cNvSpPr txBox="1"/>
          <p:nvPr/>
        </p:nvSpPr>
        <p:spPr>
          <a:xfrm>
            <a:off x="1115187" y="1226963"/>
            <a:ext cx="10748210" cy="4939814"/>
          </a:xfrm>
          <a:prstGeom prst="rect">
            <a:avLst/>
          </a:prstGeom>
          <a:noFill/>
        </p:spPr>
        <p:txBody>
          <a:bodyPr wrap="square" rtlCol="0">
            <a:spAutoFit/>
          </a:bodyPr>
          <a:lstStyle/>
          <a:p>
            <a:pPr algn="just">
              <a:lnSpc>
                <a:spcPct val="150000"/>
              </a:lnSpc>
              <a:buNone/>
            </a:pPr>
            <a:r>
              <a:rPr lang="en-US" b="1" dirty="0">
                <a:latin typeface="Times New Roman" panose="02020603050405020304" pitchFamily="18" charset="0"/>
                <a:cs typeface="Times New Roman" panose="02020603050405020304" pitchFamily="18" charset="0"/>
              </a:rPr>
              <a:t>3. TF-IDF (Term Frequency–Inverse Document Frequency)</a:t>
            </a:r>
          </a:p>
          <a:p>
            <a:pPr algn="just">
              <a:lnSpc>
                <a:spcPct val="150000"/>
              </a:lnSpc>
              <a:buNone/>
            </a:pPr>
            <a:r>
              <a:rPr lang="en-US" b="1" dirty="0">
                <a:latin typeface="Times New Roman" panose="02020603050405020304" pitchFamily="18" charset="0"/>
                <a:cs typeface="Times New Roman" panose="02020603050405020304" pitchFamily="18" charset="0"/>
              </a:rPr>
              <a:t>📌 Introduction:</a:t>
            </a:r>
          </a:p>
          <a:p>
            <a:pPr algn="just">
              <a:lnSpc>
                <a:spcPct val="150000"/>
              </a:lnSpc>
              <a:buNone/>
            </a:pPr>
            <a:r>
              <a:rPr lang="en-US" dirty="0">
                <a:latin typeface="Times New Roman" panose="02020603050405020304" pitchFamily="18" charset="0"/>
                <a:cs typeface="Times New Roman" panose="02020603050405020304" pitchFamily="18" charset="0"/>
              </a:rPr>
              <a:t>TF-IDF is a statistical measure used to evaluate how important a word is to a document in a collection.</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Term Frequency (TF):</a:t>
            </a:r>
            <a:r>
              <a:rPr lang="en-US" dirty="0">
                <a:latin typeface="Times New Roman" panose="02020603050405020304" pitchFamily="18" charset="0"/>
                <a:cs typeface="Times New Roman" panose="02020603050405020304" pitchFamily="18" charset="0"/>
              </a:rPr>
              <a:t> Measures how frequently a term appears in a document.</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Inverse Document Frequency (IDF):</a:t>
            </a:r>
            <a:r>
              <a:rPr lang="en-US" dirty="0">
                <a:latin typeface="Times New Roman" panose="02020603050405020304" pitchFamily="18" charset="0"/>
                <a:cs typeface="Times New Roman" panose="02020603050405020304" pitchFamily="18" charset="0"/>
              </a:rPr>
              <a:t> Reduces the weight of common words across all documents.</a:t>
            </a:r>
          </a:p>
          <a:p>
            <a:pPr algn="just">
              <a:lnSpc>
                <a:spcPct val="150000"/>
              </a:lnSpc>
              <a:buNone/>
            </a:pPr>
            <a:r>
              <a:rPr lang="en-US" b="1" dirty="0">
                <a:latin typeface="Times New Roman" panose="02020603050405020304" pitchFamily="18" charset="0"/>
                <a:cs typeface="Times New Roman" panose="02020603050405020304" pitchFamily="18" charset="0"/>
              </a:rPr>
              <a:t>🧠 Use in Project:</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Converts text data (e.g., abstracts) into numerical vectors.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Used as input features for both LDA and LSA.</a:t>
            </a:r>
          </a:p>
          <a:p>
            <a:pPr algn="just">
              <a:lnSpc>
                <a:spcPct val="150000"/>
              </a:lnSpc>
              <a:buNone/>
            </a:pPr>
            <a:r>
              <a:rPr lang="en-US" b="1" dirty="0">
                <a:latin typeface="Times New Roman" panose="02020603050405020304" pitchFamily="18" charset="0"/>
                <a:cs typeface="Times New Roman" panose="02020603050405020304" pitchFamily="18" charset="0"/>
              </a:rPr>
              <a:t>🧾 Example:</a:t>
            </a:r>
          </a:p>
          <a:p>
            <a:pPr algn="just">
              <a:lnSpc>
                <a:spcPct val="150000"/>
              </a:lnSpc>
            </a:pPr>
            <a:r>
              <a:rPr lang="en-US" dirty="0">
                <a:latin typeface="Times New Roman" panose="02020603050405020304" pitchFamily="18" charset="0"/>
                <a:cs typeface="Times New Roman" panose="02020603050405020304" pitchFamily="18" charset="0"/>
              </a:rPr>
              <a:t>In a dataset of research papers, words like “blockchain” or “encryption” will get higher TF-IDF scores in relevant papers and low scores where they are irrelevant.</a:t>
            </a:r>
          </a:p>
          <a:p>
            <a:endParaRPr lang="en-IN" dirty="0"/>
          </a:p>
        </p:txBody>
      </p:sp>
    </p:spTree>
    <p:extLst>
      <p:ext uri="{BB962C8B-B14F-4D97-AF65-F5344CB8AC3E}">
        <p14:creationId xmlns:p14="http://schemas.microsoft.com/office/powerpoint/2010/main" val="1150535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AB4A2-102C-33E1-1F97-8734C391EB41}"/>
              </a:ext>
            </a:extLst>
          </p:cNvPr>
          <p:cNvSpPr>
            <a:spLocks noGrp="1"/>
          </p:cNvSpPr>
          <p:nvPr>
            <p:ph type="title"/>
          </p:nvPr>
        </p:nvSpPr>
        <p:spPr>
          <a:xfrm>
            <a:off x="1504999" y="299645"/>
            <a:ext cx="8911687" cy="1280890"/>
          </a:xfrm>
        </p:spPr>
        <p:txBody>
          <a:bodyPr/>
          <a:lstStyle/>
          <a:p>
            <a:pPr algn="ctr"/>
            <a:r>
              <a:rPr lang="en-US" sz="3600" b="1" dirty="0"/>
              <a:t>UML Diagrams</a:t>
            </a:r>
            <a:br>
              <a:rPr lang="en-US" sz="3600" b="1" dirty="0"/>
            </a:br>
            <a:endParaRPr lang="en-IN" dirty="0"/>
          </a:p>
        </p:txBody>
      </p:sp>
      <p:sp>
        <p:nvSpPr>
          <p:cNvPr id="3" name="TextBox 2">
            <a:extLst>
              <a:ext uri="{FF2B5EF4-FFF2-40B4-BE49-F238E27FC236}">
                <a16:creationId xmlns:a16="http://schemas.microsoft.com/office/drawing/2014/main" id="{1B2C2654-3FC2-BB17-A527-97BAB6372FE3}"/>
              </a:ext>
            </a:extLst>
          </p:cNvPr>
          <p:cNvSpPr txBox="1"/>
          <p:nvPr/>
        </p:nvSpPr>
        <p:spPr>
          <a:xfrm>
            <a:off x="1643114" y="1006457"/>
            <a:ext cx="4452886" cy="369332"/>
          </a:xfrm>
          <a:prstGeom prst="rect">
            <a:avLst/>
          </a:prstGeom>
          <a:noFill/>
        </p:spPr>
        <p:txBody>
          <a:bodyPr wrap="none" rtlCol="0">
            <a:spAutoFit/>
          </a:bodyPr>
          <a:lstStyle/>
          <a:p>
            <a:r>
              <a:rPr lang="en-US" sz="1800" dirty="0">
                <a:solidFill>
                  <a:srgbClr val="000000"/>
                </a:solidFill>
                <a:effectLst/>
                <a:latin typeface="Times New Roman" panose="02020603050405020304" pitchFamily="18" charset="0"/>
                <a:ea typeface="Calibri" panose="020F0502020204030204" pitchFamily="34" charset="0"/>
              </a:rPr>
              <a:t>UML stands for Unified Modeling Language. </a:t>
            </a:r>
            <a:endParaRPr lang="en-IN" dirty="0"/>
          </a:p>
        </p:txBody>
      </p:sp>
      <p:sp>
        <p:nvSpPr>
          <p:cNvPr id="4" name="TextBox 3">
            <a:extLst>
              <a:ext uri="{FF2B5EF4-FFF2-40B4-BE49-F238E27FC236}">
                <a16:creationId xmlns:a16="http://schemas.microsoft.com/office/drawing/2014/main" id="{D17A5F2F-2631-9DA3-FA05-F891A477F98A}"/>
              </a:ext>
            </a:extLst>
          </p:cNvPr>
          <p:cNvSpPr txBox="1"/>
          <p:nvPr/>
        </p:nvSpPr>
        <p:spPr>
          <a:xfrm>
            <a:off x="1643114" y="1375789"/>
            <a:ext cx="9801727" cy="3067506"/>
          </a:xfrm>
          <a:prstGeom prst="rect">
            <a:avLst/>
          </a:prstGeom>
          <a:noFill/>
        </p:spPr>
        <p:txBody>
          <a:bodyPr wrap="square" rtlCol="0">
            <a:spAutoFit/>
          </a:bodyPr>
          <a:lstStyle/>
          <a:p>
            <a:pPr algn="just">
              <a:lnSpc>
                <a:spcPct val="150000"/>
              </a:lnSpc>
              <a:spcAft>
                <a:spcPts val="800"/>
              </a:spcAft>
              <a:buNone/>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USE CASE DIAGRAM</a:t>
            </a:r>
            <a:endParaRPr lang="en-US" b="1" kern="100" dirty="0">
              <a:latin typeface="Times New Roman" panose="02020603050405020304" pitchFamily="18"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kern="150" dirty="0">
                <a:solidFill>
                  <a:srgbClr val="000000"/>
                </a:solidFill>
                <a:effectLst/>
                <a:latin typeface="Times New Roman" panose="02020603050405020304" pitchFamily="18" charset="0"/>
                <a:ea typeface="DejaVu Sans"/>
                <a:cs typeface="DejaVu Sans"/>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endParaRPr lang="en-IN" sz="1800" kern="150" dirty="0">
              <a:effectLst/>
              <a:latin typeface="Liberation Serif"/>
              <a:ea typeface="DejaVu Sans"/>
              <a:cs typeface="DejaVu Sans"/>
            </a:endParaRPr>
          </a:p>
          <a:p>
            <a:endParaRPr lang="en-IN" dirty="0"/>
          </a:p>
        </p:txBody>
      </p:sp>
      <p:pic>
        <p:nvPicPr>
          <p:cNvPr id="5" name="Picture 4" descr="PlantUML diagram">
            <a:extLst>
              <a:ext uri="{FF2B5EF4-FFF2-40B4-BE49-F238E27FC236}">
                <a16:creationId xmlns:a16="http://schemas.microsoft.com/office/drawing/2014/main" id="{03B7B9F6-7223-C431-8D4E-1DF38AD1C5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03406" y="4329413"/>
            <a:ext cx="4472682" cy="1950418"/>
          </a:xfrm>
          <a:prstGeom prst="rect">
            <a:avLst/>
          </a:prstGeom>
          <a:noFill/>
          <a:ln>
            <a:noFill/>
          </a:ln>
        </p:spPr>
      </p:pic>
    </p:spTree>
    <p:extLst>
      <p:ext uri="{BB962C8B-B14F-4D97-AF65-F5344CB8AC3E}">
        <p14:creationId xmlns:p14="http://schemas.microsoft.com/office/powerpoint/2010/main" val="3203319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973AD03-59D7-4392-594E-D86D16D0CB1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4" name="AutoShape 2">
            <a:extLst>
              <a:ext uri="{FF2B5EF4-FFF2-40B4-BE49-F238E27FC236}">
                <a16:creationId xmlns:a16="http://schemas.microsoft.com/office/drawing/2014/main" id="{55ED2B0A-8DC0-EF7D-3106-0F10281BC033}"/>
              </a:ext>
            </a:extLst>
          </p:cNvPr>
          <p:cNvCxnSpPr>
            <a:cxnSpLocks noChangeShapeType="1"/>
          </p:cNvCxnSpPr>
          <p:nvPr/>
        </p:nvCxnSpPr>
        <p:spPr bwMode="auto">
          <a:xfrm flipH="1">
            <a:off x="2272030" y="8319770"/>
            <a:ext cx="1968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5" name="Rectangle 3">
            <a:extLst>
              <a:ext uri="{FF2B5EF4-FFF2-40B4-BE49-F238E27FC236}">
                <a16:creationId xmlns:a16="http://schemas.microsoft.com/office/drawing/2014/main" id="{7665207D-0F49-24FB-D4E8-C09E6501683A}"/>
              </a:ext>
            </a:extLst>
          </p:cNvPr>
          <p:cNvSpPr>
            <a:spLocks noChangeArrowheads="1"/>
          </p:cNvSpPr>
          <p:nvPr/>
        </p:nvSpPr>
        <p:spPr bwMode="auto">
          <a:xfrm>
            <a:off x="1311851" y="1032070"/>
            <a:ext cx="10375600" cy="2119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573213" algn="l"/>
              </a:tabLst>
              <a:defRPr>
                <a:solidFill>
                  <a:schemeClr val="tx1"/>
                </a:solidFill>
                <a:latin typeface="Arial" panose="020B0604020202020204" pitchFamily="34" charset="0"/>
              </a:defRPr>
            </a:lvl1pPr>
            <a:lvl2pPr eaLnBrk="0" fontAlgn="base" hangingPunct="0">
              <a:spcBef>
                <a:spcPct val="0"/>
              </a:spcBef>
              <a:spcAft>
                <a:spcPct val="0"/>
              </a:spcAft>
              <a:tabLst>
                <a:tab pos="1573213" algn="l"/>
              </a:tabLst>
              <a:defRPr>
                <a:solidFill>
                  <a:schemeClr val="tx1"/>
                </a:solidFill>
                <a:latin typeface="Arial" panose="020B0604020202020204" pitchFamily="34" charset="0"/>
              </a:defRPr>
            </a:lvl2pPr>
            <a:lvl3pPr eaLnBrk="0" fontAlgn="base" hangingPunct="0">
              <a:spcBef>
                <a:spcPct val="0"/>
              </a:spcBef>
              <a:spcAft>
                <a:spcPct val="0"/>
              </a:spcAft>
              <a:tabLst>
                <a:tab pos="1573213" algn="l"/>
              </a:tabLst>
              <a:defRPr>
                <a:solidFill>
                  <a:schemeClr val="tx1"/>
                </a:solidFill>
                <a:latin typeface="Arial" panose="020B0604020202020204" pitchFamily="34" charset="0"/>
              </a:defRPr>
            </a:lvl3pPr>
            <a:lvl4pPr eaLnBrk="0" fontAlgn="base" hangingPunct="0">
              <a:spcBef>
                <a:spcPct val="0"/>
              </a:spcBef>
              <a:spcAft>
                <a:spcPct val="0"/>
              </a:spcAft>
              <a:tabLst>
                <a:tab pos="1573213" algn="l"/>
              </a:tabLst>
              <a:defRPr>
                <a:solidFill>
                  <a:schemeClr val="tx1"/>
                </a:solidFill>
                <a:latin typeface="Arial" panose="020B0604020202020204" pitchFamily="34" charset="0"/>
              </a:defRPr>
            </a:lvl4pPr>
            <a:lvl5pPr eaLnBrk="0" fontAlgn="base" hangingPunct="0">
              <a:spcBef>
                <a:spcPct val="0"/>
              </a:spcBef>
              <a:spcAft>
                <a:spcPct val="0"/>
              </a:spcAft>
              <a:tabLst>
                <a:tab pos="1573213" algn="l"/>
              </a:tabLst>
              <a:defRPr>
                <a:solidFill>
                  <a:schemeClr val="tx1"/>
                </a:solidFill>
                <a:latin typeface="Arial" panose="020B0604020202020204" pitchFamily="34" charset="0"/>
              </a:defRPr>
            </a:lvl5pPr>
            <a:lvl6pPr eaLnBrk="0" fontAlgn="base" hangingPunct="0">
              <a:spcBef>
                <a:spcPct val="0"/>
              </a:spcBef>
              <a:spcAft>
                <a:spcPct val="0"/>
              </a:spcAft>
              <a:tabLst>
                <a:tab pos="1573213" algn="l"/>
              </a:tabLst>
              <a:defRPr>
                <a:solidFill>
                  <a:schemeClr val="tx1"/>
                </a:solidFill>
                <a:latin typeface="Arial" panose="020B0604020202020204" pitchFamily="34" charset="0"/>
              </a:defRPr>
            </a:lvl6pPr>
            <a:lvl7pPr eaLnBrk="0" fontAlgn="base" hangingPunct="0">
              <a:spcBef>
                <a:spcPct val="0"/>
              </a:spcBef>
              <a:spcAft>
                <a:spcPct val="0"/>
              </a:spcAft>
              <a:tabLst>
                <a:tab pos="1573213" algn="l"/>
              </a:tabLst>
              <a:defRPr>
                <a:solidFill>
                  <a:schemeClr val="tx1"/>
                </a:solidFill>
                <a:latin typeface="Arial" panose="020B0604020202020204" pitchFamily="34" charset="0"/>
              </a:defRPr>
            </a:lvl7pPr>
            <a:lvl8pPr eaLnBrk="0" fontAlgn="base" hangingPunct="0">
              <a:spcBef>
                <a:spcPct val="0"/>
              </a:spcBef>
              <a:spcAft>
                <a:spcPct val="0"/>
              </a:spcAft>
              <a:tabLst>
                <a:tab pos="1573213" algn="l"/>
              </a:tabLst>
              <a:defRPr>
                <a:solidFill>
                  <a:schemeClr val="tx1"/>
                </a:solidFill>
                <a:latin typeface="Arial" panose="020B0604020202020204" pitchFamily="34" charset="0"/>
              </a:defRPr>
            </a:lvl8pPr>
            <a:lvl9pPr eaLnBrk="0" fontAlgn="base" hangingPunct="0">
              <a:spcBef>
                <a:spcPct val="0"/>
              </a:spcBef>
              <a:spcAft>
                <a:spcPct val="0"/>
              </a:spcAft>
              <a:tabLst>
                <a:tab pos="1573213"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1573213" algn="l"/>
              </a:tabLst>
            </a:pPr>
            <a:r>
              <a:rPr kumimoji="0" lang="en-US" altLang="en-US"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CLASS DIAGRAM:</a:t>
            </a:r>
          </a:p>
          <a:p>
            <a:pPr marL="0" marR="0" lvl="0" indent="0" algn="just" defTabSz="914400" rtl="0" eaLnBrk="0" fontAlgn="base" latinLnBrk="0" hangingPunct="0">
              <a:lnSpc>
                <a:spcPct val="150000"/>
              </a:lnSpc>
              <a:spcBef>
                <a:spcPct val="0"/>
              </a:spcBef>
              <a:spcAft>
                <a:spcPct val="0"/>
              </a:spcAft>
              <a:buClrTx/>
              <a:buSzTx/>
              <a:buFontTx/>
              <a:buNone/>
              <a:tabLst>
                <a:tab pos="1573213" algn="l"/>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software engineering, a class diagram in the Unified Modeling Language (UML) is</a:t>
            </a:r>
          </a:p>
          <a:p>
            <a:pPr marL="0" marR="0" lvl="0" indent="0" algn="just" defTabSz="914400" rtl="0" eaLnBrk="0" fontAlgn="base" latinLnBrk="0" hangingPunct="0">
              <a:lnSpc>
                <a:spcPct val="150000"/>
              </a:lnSpc>
              <a:spcBef>
                <a:spcPct val="0"/>
              </a:spcBef>
              <a:spcAft>
                <a:spcPct val="0"/>
              </a:spcAft>
              <a:buClrTx/>
              <a:buSzTx/>
              <a:buFontTx/>
              <a:buNone/>
              <a:tabLst>
                <a:tab pos="1573213" algn="l"/>
              </a:tabLst>
            </a:pPr>
            <a:r>
              <a:rPr kumimoji="0" lang="en-US" altLang="en-US"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 type of static structure diagram that describes the structure of a system by showing the system's classes, their attributes, operations (or methods), and the relationships among the classes. It explains which class contains information.</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6" name="Picture 5" descr="PlantUML diagram">
            <a:extLst>
              <a:ext uri="{FF2B5EF4-FFF2-40B4-BE49-F238E27FC236}">
                <a16:creationId xmlns:a16="http://schemas.microsoft.com/office/drawing/2014/main" id="{D8FEDFC4-2B05-3406-641E-585624AE96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18736" y="3429000"/>
            <a:ext cx="5731510" cy="2515235"/>
          </a:xfrm>
          <a:prstGeom prst="rect">
            <a:avLst/>
          </a:prstGeom>
          <a:noFill/>
          <a:ln>
            <a:noFill/>
          </a:ln>
        </p:spPr>
      </p:pic>
    </p:spTree>
    <p:extLst>
      <p:ext uri="{BB962C8B-B14F-4D97-AF65-F5344CB8AC3E}">
        <p14:creationId xmlns:p14="http://schemas.microsoft.com/office/powerpoint/2010/main" val="3274936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BE7E59-BC5F-4F99-0DEF-60C7DAB07DEB}"/>
              </a:ext>
            </a:extLst>
          </p:cNvPr>
          <p:cNvSpPr txBox="1"/>
          <p:nvPr/>
        </p:nvSpPr>
        <p:spPr>
          <a:xfrm>
            <a:off x="1242143" y="1095315"/>
            <a:ext cx="9707714" cy="2236510"/>
          </a:xfrm>
          <a:prstGeom prst="rect">
            <a:avLst/>
          </a:prstGeom>
          <a:noFill/>
        </p:spPr>
        <p:txBody>
          <a:bodyPr wrap="square" rtlCol="0">
            <a:spAutoFit/>
          </a:bodyPr>
          <a:lstStyle/>
          <a:p>
            <a:pPr algn="just">
              <a:lnSpc>
                <a:spcPct val="150000"/>
              </a:lnSpc>
              <a:spcAft>
                <a:spcPts val="800"/>
              </a:spcAft>
              <a:buNone/>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SEQUENCE DIAGRAM:</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pPr>
            <a:r>
              <a:rPr lang="en-US" sz="1800" kern="100" dirty="0">
                <a:solidFill>
                  <a:srgbClr val="000000"/>
                </a:solidFill>
                <a:effectLst/>
                <a:latin typeface="Times New Roman" panose="02020603050405020304" pitchFamily="18" charset="0"/>
                <a:ea typeface="Calibri" panose="020F0502020204030204" pitchFamily="34" charset="0"/>
                <a:cs typeface="Mangal" panose="02040503050203030202" pitchFamily="18" charset="0"/>
              </a:rPr>
              <a:t>A sequence diagram in Unified Modeling Language (UML) is a kind of interaction diagram that shows how processes operate with one another and in what order. It is a construct of a Message Sequence Chart. Sequence diagrams are sometimes called event diagrams, event scenarios, and timing diagrams.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3" name="Picture 2" descr="PlantUML diagram">
            <a:extLst>
              <a:ext uri="{FF2B5EF4-FFF2-40B4-BE49-F238E27FC236}">
                <a16:creationId xmlns:a16="http://schemas.microsoft.com/office/drawing/2014/main" id="{CCA82918-7854-D68B-98B2-D7048F283D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99711" y="3429000"/>
            <a:ext cx="3792578" cy="2897575"/>
          </a:xfrm>
          <a:prstGeom prst="rect">
            <a:avLst/>
          </a:prstGeom>
          <a:noFill/>
          <a:ln>
            <a:noFill/>
          </a:ln>
        </p:spPr>
      </p:pic>
    </p:spTree>
    <p:extLst>
      <p:ext uri="{BB962C8B-B14F-4D97-AF65-F5344CB8AC3E}">
        <p14:creationId xmlns:p14="http://schemas.microsoft.com/office/powerpoint/2010/main" val="3116833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AD40A2-F0AD-5DAA-8160-87DD535EBD90}"/>
              </a:ext>
            </a:extLst>
          </p:cNvPr>
          <p:cNvSpPr txBox="1"/>
          <p:nvPr/>
        </p:nvSpPr>
        <p:spPr>
          <a:xfrm>
            <a:off x="1455175" y="998125"/>
            <a:ext cx="10305759" cy="2532873"/>
          </a:xfrm>
          <a:prstGeom prst="rect">
            <a:avLst/>
          </a:prstGeom>
          <a:noFill/>
        </p:spPr>
        <p:txBody>
          <a:bodyPr wrap="square" rtlCol="0">
            <a:spAutoFit/>
          </a:bodyPr>
          <a:lstStyle/>
          <a:p>
            <a:pPr algn="just">
              <a:lnSpc>
                <a:spcPct val="107000"/>
              </a:lnSpc>
              <a:spcAft>
                <a:spcPts val="800"/>
              </a:spcAft>
              <a:buNone/>
            </a:pP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COLLABRATION DIAGRAM:</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pPr>
            <a:r>
              <a:rPr lang="en-US" sz="1800" kern="100" dirty="0">
                <a:solidFill>
                  <a:srgbClr val="000000"/>
                </a:solidFill>
                <a:effectLst/>
                <a:latin typeface="Times New Roman" panose="02020603050405020304" pitchFamily="18" charset="0"/>
                <a:ea typeface="Calibri" panose="020F0502020204030204" pitchFamily="34" charset="0"/>
                <a:cs typeface="Mangal" panose="02040503050203030202" pitchFamily="18" charset="0"/>
              </a:rPr>
              <a:t>Activity diagrams are graphical representations of workflows of stepwise activities and actions with support for choice, iteration and concurrency. In the Unified Modeling Language, activity diagrams can be used to describe the business and operational step-by-step workflows of components in a system. An activity diagram shows the overall flow of control.</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3" name="Picture 2" descr="PlantUML diagram">
            <a:extLst>
              <a:ext uri="{FF2B5EF4-FFF2-40B4-BE49-F238E27FC236}">
                <a16:creationId xmlns:a16="http://schemas.microsoft.com/office/drawing/2014/main" id="{897F1C1B-FA5C-35A9-1C92-4B8DDFAF4B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53362" y="3530998"/>
            <a:ext cx="2485276" cy="3135272"/>
          </a:xfrm>
          <a:prstGeom prst="rect">
            <a:avLst/>
          </a:prstGeom>
          <a:noFill/>
          <a:ln>
            <a:noFill/>
          </a:ln>
        </p:spPr>
      </p:pic>
    </p:spTree>
    <p:extLst>
      <p:ext uri="{BB962C8B-B14F-4D97-AF65-F5344CB8AC3E}">
        <p14:creationId xmlns:p14="http://schemas.microsoft.com/office/powerpoint/2010/main" val="793298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5E06B6-3143-C7FF-0A4F-9CF7C2A42AEE}"/>
              </a:ext>
            </a:extLst>
          </p:cNvPr>
          <p:cNvSpPr txBox="1"/>
          <p:nvPr/>
        </p:nvSpPr>
        <p:spPr>
          <a:xfrm>
            <a:off x="2033301" y="1138989"/>
            <a:ext cx="8614611" cy="923330"/>
          </a:xfrm>
          <a:prstGeom prst="rect">
            <a:avLst/>
          </a:prstGeom>
          <a:noFill/>
        </p:spPr>
        <p:txBody>
          <a:bodyPr wrap="square" rtlCol="0">
            <a:spAutoFit/>
          </a:bodyPr>
          <a:lstStyle/>
          <a:p>
            <a:r>
              <a:rPr lang="en-US" sz="1800" kern="100" dirty="0">
                <a:effectLst/>
                <a:latin typeface="Times New Roman" panose="02020603050405020304" pitchFamily="18" charset="0"/>
                <a:ea typeface="Calibri" panose="020F0502020204030204" pitchFamily="34" charset="0"/>
                <a:cs typeface="Mangal" panose="02040503050203030202" pitchFamily="18" charset="0"/>
              </a:rPr>
              <a:t>We have coded this project using JUPYTER notebook so you will get below screen with code, output and blue </a:t>
            </a:r>
            <a:r>
              <a:rPr lang="en-US" sz="1800" kern="100" dirty="0" err="1">
                <a:effectLst/>
                <a:latin typeface="Times New Roman" panose="02020603050405020304" pitchFamily="18" charset="0"/>
                <a:ea typeface="Calibri" panose="020F0502020204030204" pitchFamily="34" charset="0"/>
                <a:cs typeface="Mangal" panose="02040503050203030202" pitchFamily="18" charset="0"/>
              </a:rPr>
              <a:t>colour</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comments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3" name="Picture 2">
            <a:extLst>
              <a:ext uri="{FF2B5EF4-FFF2-40B4-BE49-F238E27FC236}">
                <a16:creationId xmlns:a16="http://schemas.microsoft.com/office/drawing/2014/main" id="{9B043ABC-C450-D907-6836-6E3B609E92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82576" y="1983707"/>
            <a:ext cx="5146041" cy="2890586"/>
          </a:xfrm>
          <a:prstGeom prst="rect">
            <a:avLst/>
          </a:prstGeom>
          <a:noFill/>
          <a:ln>
            <a:noFill/>
          </a:ln>
        </p:spPr>
      </p:pic>
      <p:sp>
        <p:nvSpPr>
          <p:cNvPr id="4" name="TextBox 3">
            <a:extLst>
              <a:ext uri="{FF2B5EF4-FFF2-40B4-BE49-F238E27FC236}">
                <a16:creationId xmlns:a16="http://schemas.microsoft.com/office/drawing/2014/main" id="{2B9F433D-7BD6-AFF5-349B-02B02C1E1E2E}"/>
              </a:ext>
            </a:extLst>
          </p:cNvPr>
          <p:cNvSpPr txBox="1"/>
          <p:nvPr/>
        </p:nvSpPr>
        <p:spPr>
          <a:xfrm>
            <a:off x="2033301" y="5245768"/>
            <a:ext cx="8479536" cy="1200329"/>
          </a:xfrm>
          <a:prstGeom prst="rect">
            <a:avLst/>
          </a:prstGeom>
          <a:noFill/>
        </p:spPr>
        <p:txBody>
          <a:bodyPr wrap="square" rtlCol="0">
            <a:spAutoFit/>
          </a:bodyPr>
          <a:lstStyle/>
          <a:p>
            <a:r>
              <a:rPr lang="en-US" sz="1800" kern="100" dirty="0">
                <a:effectLst/>
                <a:latin typeface="Times New Roman" panose="02020603050405020304" pitchFamily="18" charset="0"/>
                <a:ea typeface="Calibri" panose="020F0502020204030204" pitchFamily="34" charset="0"/>
                <a:cs typeface="Mangal" panose="02040503050203030202" pitchFamily="18" charset="0"/>
              </a:rPr>
              <a:t>In above screen we are importing required SPARK packages and then in next block we are initializing spark session which will read dataset from HADOOP and then display below output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1429853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869EB6-73FB-F809-5B50-CD2C7F454C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0022" y="1315245"/>
            <a:ext cx="4780546" cy="2685283"/>
          </a:xfrm>
          <a:prstGeom prst="rect">
            <a:avLst/>
          </a:prstGeom>
          <a:noFill/>
          <a:ln>
            <a:noFill/>
          </a:ln>
        </p:spPr>
      </p:pic>
      <p:sp>
        <p:nvSpPr>
          <p:cNvPr id="3" name="TextBox 2">
            <a:extLst>
              <a:ext uri="{FF2B5EF4-FFF2-40B4-BE49-F238E27FC236}">
                <a16:creationId xmlns:a16="http://schemas.microsoft.com/office/drawing/2014/main" id="{0C8EBEE4-1513-C8CF-FDCE-AA81728D73EE}"/>
              </a:ext>
            </a:extLst>
          </p:cNvPr>
          <p:cNvSpPr txBox="1"/>
          <p:nvPr/>
        </p:nvSpPr>
        <p:spPr>
          <a:xfrm>
            <a:off x="1203157" y="4665592"/>
            <a:ext cx="4347411" cy="1477328"/>
          </a:xfrm>
          <a:prstGeom prst="rect">
            <a:avLst/>
          </a:prstGeom>
          <a:noFill/>
        </p:spPr>
        <p:txBody>
          <a:bodyPr wrap="square" rtlCol="0">
            <a:spAutoFit/>
          </a:bodyPr>
          <a:lstStyle/>
          <a:p>
            <a:pPr algn="just"/>
            <a:r>
              <a:rPr lang="en-US" sz="1800" kern="100" dirty="0">
                <a:effectLst/>
                <a:latin typeface="Times New Roman" panose="02020603050405020304" pitchFamily="18" charset="0"/>
                <a:ea typeface="Calibri" panose="020F0502020204030204" pitchFamily="34" charset="0"/>
                <a:cs typeface="Mangal" panose="02040503050203030202" pitchFamily="18" charset="0"/>
              </a:rPr>
              <a:t>In above screen we can see dataset values loaded from HADOOP to spark and now spark will </a:t>
            </a:r>
            <a:r>
              <a:rPr lang="en-US" sz="1800" kern="100" dirty="0" err="1">
                <a:effectLst/>
                <a:latin typeface="Times New Roman" panose="02020603050405020304" pitchFamily="18" charset="0"/>
                <a:ea typeface="Calibri" panose="020F0502020204030204" pitchFamily="34" charset="0"/>
                <a:cs typeface="Mangal" panose="02040503050203030202" pitchFamily="18" charset="0"/>
              </a:rPr>
              <a:t>analyse</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this dataset for visualization and other analysis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4" name="Picture 3">
            <a:extLst>
              <a:ext uri="{FF2B5EF4-FFF2-40B4-BE49-F238E27FC236}">
                <a16:creationId xmlns:a16="http://schemas.microsoft.com/office/drawing/2014/main" id="{D981DD43-0D3B-8D37-F253-8583007BE50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60521" y="1315245"/>
            <a:ext cx="5025770" cy="2685283"/>
          </a:xfrm>
          <a:prstGeom prst="rect">
            <a:avLst/>
          </a:prstGeom>
          <a:noFill/>
          <a:ln>
            <a:noFill/>
          </a:ln>
        </p:spPr>
      </p:pic>
      <p:sp>
        <p:nvSpPr>
          <p:cNvPr id="5" name="TextBox 4">
            <a:extLst>
              <a:ext uri="{FF2B5EF4-FFF2-40B4-BE49-F238E27FC236}">
                <a16:creationId xmlns:a16="http://schemas.microsoft.com/office/drawing/2014/main" id="{7EFF1233-4755-A5A5-60F7-05B0C0E2C40A}"/>
              </a:ext>
            </a:extLst>
          </p:cNvPr>
          <p:cNvSpPr txBox="1"/>
          <p:nvPr/>
        </p:nvSpPr>
        <p:spPr>
          <a:xfrm>
            <a:off x="7131197" y="4683520"/>
            <a:ext cx="4484418" cy="923330"/>
          </a:xfrm>
          <a:prstGeom prst="rect">
            <a:avLst/>
          </a:prstGeom>
          <a:noFill/>
        </p:spPr>
        <p:txBody>
          <a:bodyPr wrap="square" rtlCol="0">
            <a:spAutoFit/>
          </a:bodyPr>
          <a:lstStyle/>
          <a:p>
            <a:r>
              <a:rPr lang="en-US" sz="1800" kern="100" dirty="0">
                <a:effectLst/>
                <a:latin typeface="Times New Roman" panose="02020603050405020304" pitchFamily="18" charset="0"/>
                <a:ea typeface="Calibri" panose="020F0502020204030204" pitchFamily="34" charset="0"/>
                <a:cs typeface="Mangal" panose="02040503050203030202" pitchFamily="18" charset="0"/>
              </a:rPr>
              <a:t>In above screen in blue </a:t>
            </a:r>
            <a:r>
              <a:rPr lang="en-US" sz="1800" kern="100" dirty="0" err="1">
                <a:effectLst/>
                <a:latin typeface="Times New Roman" panose="02020603050405020304" pitchFamily="18" charset="0"/>
                <a:ea typeface="Calibri" panose="020F0502020204030204" pitchFamily="34" charset="0"/>
                <a:cs typeface="Mangal" panose="02040503050203030202" pitchFamily="18" charset="0"/>
              </a:rPr>
              <a:t>colour</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text displaying total rows and column found in dataset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cxnSp>
        <p:nvCxnSpPr>
          <p:cNvPr id="7" name="Straight Connector 6">
            <a:extLst>
              <a:ext uri="{FF2B5EF4-FFF2-40B4-BE49-F238E27FC236}">
                <a16:creationId xmlns:a16="http://schemas.microsoft.com/office/drawing/2014/main" id="{CDEC2328-8D25-2DCE-5521-7AD9BB883340}"/>
              </a:ext>
            </a:extLst>
          </p:cNvPr>
          <p:cNvCxnSpPr>
            <a:cxnSpLocks/>
          </p:cNvCxnSpPr>
          <p:nvPr/>
        </p:nvCxnSpPr>
        <p:spPr>
          <a:xfrm>
            <a:off x="6243484" y="530942"/>
            <a:ext cx="0" cy="538807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8782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8B327A-8A82-4AEF-DE1C-EBE3EB7020E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17523" y="1179215"/>
            <a:ext cx="4364396" cy="2451528"/>
          </a:xfrm>
          <a:prstGeom prst="rect">
            <a:avLst/>
          </a:prstGeom>
          <a:noFill/>
          <a:ln>
            <a:noFill/>
          </a:ln>
        </p:spPr>
      </p:pic>
      <p:sp>
        <p:nvSpPr>
          <p:cNvPr id="3" name="TextBox 2">
            <a:extLst>
              <a:ext uri="{FF2B5EF4-FFF2-40B4-BE49-F238E27FC236}">
                <a16:creationId xmlns:a16="http://schemas.microsoft.com/office/drawing/2014/main" id="{72519633-E237-08B2-7B8E-D18DB1EB0F5E}"/>
              </a:ext>
            </a:extLst>
          </p:cNvPr>
          <p:cNvSpPr txBox="1"/>
          <p:nvPr/>
        </p:nvSpPr>
        <p:spPr>
          <a:xfrm>
            <a:off x="1082674" y="4332965"/>
            <a:ext cx="5013326" cy="1754326"/>
          </a:xfrm>
          <a:prstGeom prst="rect">
            <a:avLst/>
          </a:prstGeom>
          <a:noFill/>
        </p:spPr>
        <p:txBody>
          <a:bodyPr wrap="square" rtlCol="0">
            <a:spAutoFit/>
          </a:bodyPr>
          <a:lstStyle/>
          <a:p>
            <a:pPr algn="just"/>
            <a:r>
              <a:rPr lang="en-US" sz="1800" kern="100" dirty="0">
                <a:effectLst/>
                <a:latin typeface="Times New Roman" panose="02020603050405020304" pitchFamily="18" charset="0"/>
                <a:ea typeface="Calibri" panose="020F0502020204030204" pitchFamily="34" charset="0"/>
                <a:cs typeface="Mangal" panose="02040503050203030202" pitchFamily="18" charset="0"/>
              </a:rPr>
              <a:t>In above screen using spark we are executing query to find top 10 authors who publish more papers in particular year and in tabular format we got out as Author name,  year and number of publish and in below screen we can see the graph.</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4" name="Picture 3">
            <a:extLst>
              <a:ext uri="{FF2B5EF4-FFF2-40B4-BE49-F238E27FC236}">
                <a16:creationId xmlns:a16="http://schemas.microsoft.com/office/drawing/2014/main" id="{E6EB71E4-B085-4E0D-5FB7-84AE21D1FA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46461" y="1179215"/>
            <a:ext cx="4276425" cy="2402113"/>
          </a:xfrm>
          <a:prstGeom prst="rect">
            <a:avLst/>
          </a:prstGeom>
          <a:noFill/>
          <a:ln>
            <a:noFill/>
          </a:ln>
        </p:spPr>
      </p:pic>
      <p:sp>
        <p:nvSpPr>
          <p:cNvPr id="5" name="TextBox 4">
            <a:extLst>
              <a:ext uri="{FF2B5EF4-FFF2-40B4-BE49-F238E27FC236}">
                <a16:creationId xmlns:a16="http://schemas.microsoft.com/office/drawing/2014/main" id="{C3606154-FB59-F181-C08A-96ED6DB8188A}"/>
              </a:ext>
            </a:extLst>
          </p:cNvPr>
          <p:cNvSpPr txBox="1"/>
          <p:nvPr/>
        </p:nvSpPr>
        <p:spPr>
          <a:xfrm>
            <a:off x="6882062" y="4332965"/>
            <a:ext cx="5309938" cy="1200329"/>
          </a:xfrm>
          <a:prstGeom prst="rect">
            <a:avLst/>
          </a:prstGeom>
          <a:noFill/>
        </p:spPr>
        <p:txBody>
          <a:bodyPr wrap="square" rtlCol="0">
            <a:spAutoFit/>
          </a:bodyPr>
          <a:lstStyle/>
          <a:p>
            <a:pPr algn="just"/>
            <a:r>
              <a:rPr lang="en-US" sz="1800" kern="100" dirty="0">
                <a:effectLst/>
                <a:latin typeface="Times New Roman" panose="02020603050405020304" pitchFamily="18" charset="0"/>
                <a:ea typeface="Calibri" panose="020F0502020204030204" pitchFamily="34" charset="0"/>
                <a:cs typeface="Mangal" panose="02040503050203030202" pitchFamily="18" charset="0"/>
              </a:rPr>
              <a:t>In above graph x-axis represents author names and y-axis represents number of publishing done by those authors.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cxnSp>
        <p:nvCxnSpPr>
          <p:cNvPr id="7" name="Straight Connector 6">
            <a:extLst>
              <a:ext uri="{FF2B5EF4-FFF2-40B4-BE49-F238E27FC236}">
                <a16:creationId xmlns:a16="http://schemas.microsoft.com/office/drawing/2014/main" id="{688A258C-D7BE-9992-5B91-882C49E1EC54}"/>
              </a:ext>
            </a:extLst>
          </p:cNvPr>
          <p:cNvCxnSpPr>
            <a:cxnSpLocks/>
          </p:cNvCxnSpPr>
          <p:nvPr/>
        </p:nvCxnSpPr>
        <p:spPr>
          <a:xfrm>
            <a:off x="6351639" y="747252"/>
            <a:ext cx="0" cy="51816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786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39F28-49AF-9C38-A64F-2CC1FF499A7C}"/>
              </a:ext>
            </a:extLst>
          </p:cNvPr>
          <p:cNvSpPr>
            <a:spLocks noGrp="1"/>
          </p:cNvSpPr>
          <p:nvPr>
            <p:ph type="title"/>
          </p:nvPr>
        </p:nvSpPr>
        <p:spPr>
          <a:xfrm>
            <a:off x="2125041" y="496291"/>
            <a:ext cx="8911687" cy="1280890"/>
          </a:xfrm>
        </p:spPr>
        <p:txBody>
          <a:bodyPr/>
          <a:lstStyle/>
          <a:p>
            <a:pPr algn="ctr"/>
            <a:r>
              <a:rPr lang="en-US" b="1" dirty="0">
                <a:latin typeface="Times New Roman" panose="02020603050405020304" pitchFamily="18" charset="0"/>
                <a:cs typeface="Times New Roman" panose="02020603050405020304" pitchFamily="18" charset="0"/>
              </a:rPr>
              <a:t>System Testing</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C52830F-CBE5-B87D-2B5F-BDD9DEA926F1}"/>
              </a:ext>
            </a:extLst>
          </p:cNvPr>
          <p:cNvSpPr txBox="1"/>
          <p:nvPr/>
        </p:nvSpPr>
        <p:spPr>
          <a:xfrm>
            <a:off x="1860884" y="1502266"/>
            <a:ext cx="9440002" cy="6494085"/>
          </a:xfrm>
          <a:prstGeom prst="rect">
            <a:avLst/>
          </a:prstGeom>
          <a:noFill/>
        </p:spPr>
        <p:txBody>
          <a:bodyPr wrap="square" rtlCol="0">
            <a:spAutoFit/>
          </a:bodyPr>
          <a:lstStyle/>
          <a:p>
            <a:pPr algn="just">
              <a:lnSpc>
                <a:spcPct val="150000"/>
              </a:lnSpc>
              <a:spcAft>
                <a:spcPts val="800"/>
              </a:spcAft>
              <a:buNone/>
            </a:pPr>
            <a:r>
              <a:rPr lang="en-US" sz="1800" b="1" kern="100" dirty="0">
                <a:solidFill>
                  <a:srgbClr val="000000"/>
                </a:solidFill>
                <a:effectLst/>
                <a:latin typeface="Times New Roman" panose="02020603050405020304" pitchFamily="18" charset="0"/>
                <a:ea typeface="Calibri" panose="020F0502020204030204" pitchFamily="34" charset="0"/>
                <a:cs typeface="Mangal" panose="02040503050203030202" pitchFamily="18" charset="0"/>
              </a:rPr>
              <a:t>Unit Testing</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Unit testing is usually conducted as part of a combined code and unit test phase of the software lifecycle, although it is not uncommon for coding and unit testing to be conducted as two distinct phases.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b="1" kern="100" dirty="0">
                <a:solidFill>
                  <a:srgbClr val="000000"/>
                </a:solidFill>
                <a:effectLst/>
                <a:latin typeface="Times New Roman" panose="02020603050405020304" pitchFamily="18" charset="0"/>
                <a:ea typeface="Calibri" panose="020F0502020204030204" pitchFamily="34" charset="0"/>
                <a:cs typeface="Mangal" panose="02040503050203030202" pitchFamily="18" charset="0"/>
              </a:rPr>
              <a:t>Test strategy and approach</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buNone/>
            </a:pPr>
            <a:r>
              <a:rPr lang="en-US" sz="1800" dirty="0">
                <a:effectLst/>
                <a:latin typeface="Times New Roman" panose="02020603050405020304" pitchFamily="18" charset="0"/>
                <a:ea typeface="Times New Roman" panose="02020603050405020304" pitchFamily="18" charset="0"/>
              </a:rPr>
              <a:t>	               Field testing will be performed manually and functional tests will be written in detail.</a:t>
            </a:r>
            <a:endParaRPr lang="en-IN" sz="1800" dirty="0">
              <a:effectLst/>
              <a:latin typeface="Times New Roman" panose="02020603050405020304" pitchFamily="18" charset="0"/>
              <a:ea typeface="Times New Roman" panose="02020603050405020304" pitchFamily="18" charset="0"/>
            </a:endParaRPr>
          </a:p>
          <a:p>
            <a:pPr algn="just">
              <a:lnSpc>
                <a:spcPct val="150000"/>
              </a:lnSpc>
              <a:buNone/>
            </a:pPr>
            <a:r>
              <a:rPr lang="en-US" sz="1800" b="1" dirty="0">
                <a:solidFill>
                  <a:srgbClr val="000000"/>
                </a:solidFill>
                <a:effectLst/>
                <a:latin typeface="Times New Roman" panose="02020603050405020304" pitchFamily="18" charset="0"/>
                <a:ea typeface="Times New Roman" panose="02020603050405020304" pitchFamily="18" charset="0"/>
              </a:rPr>
              <a:t>Test objectives</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rPr>
              <a:t>All field entries must work properly.</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rPr>
              <a:t>Pages must be activated from the identified link.</a:t>
            </a:r>
            <a:endParaRPr lang="en-IN"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rPr>
              <a:t>The entry screen, messages and responses must not be delayed.</a:t>
            </a:r>
            <a:endParaRPr lang="en-IN" sz="1800" dirty="0">
              <a:effectLst/>
              <a:latin typeface="Times New Roman" panose="02020603050405020304" pitchFamily="18" charset="0"/>
              <a:ea typeface="Times New Roman" panose="02020603050405020304" pitchFamily="18" charset="0"/>
            </a:endParaRPr>
          </a:p>
          <a:p>
            <a:pPr algn="just">
              <a:lnSpc>
                <a:spcPct val="150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50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50000"/>
              </a:lnSpc>
              <a:buNone/>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gn="just">
              <a:lnSpc>
                <a:spcPct val="150000"/>
              </a:lnSpc>
              <a:buNone/>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997787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400DC-0F21-4ACA-8567-AAE6F6D30FC2}"/>
              </a:ext>
            </a:extLst>
          </p:cNvPr>
          <p:cNvSpPr txBox="1"/>
          <p:nvPr/>
        </p:nvSpPr>
        <p:spPr>
          <a:xfrm>
            <a:off x="1187115" y="1138989"/>
            <a:ext cx="10457269" cy="5229637"/>
          </a:xfrm>
          <a:prstGeom prst="rect">
            <a:avLst/>
          </a:prstGeom>
          <a:noFill/>
        </p:spPr>
        <p:txBody>
          <a:bodyPr wrap="square" rtlCol="0">
            <a:spAutoFit/>
          </a:bodyPr>
          <a:lstStyle/>
          <a:p>
            <a:pPr algn="just">
              <a:lnSpc>
                <a:spcPct val="150000"/>
              </a:lnSpc>
              <a:buNone/>
            </a:pPr>
            <a:r>
              <a:rPr lang="en-US" sz="1800" b="1" dirty="0">
                <a:solidFill>
                  <a:srgbClr val="000000"/>
                </a:solidFill>
                <a:effectLst/>
                <a:latin typeface="Times New Roman" panose="02020603050405020304" pitchFamily="18" charset="0"/>
                <a:ea typeface="Times New Roman" panose="02020603050405020304" pitchFamily="18" charset="0"/>
              </a:rPr>
              <a:t>Integration Testing</a:t>
            </a:r>
            <a:endParaRPr lang="en-IN" sz="1800" b="1" dirty="0">
              <a:effectLst/>
              <a:latin typeface="Times New Roman" panose="02020603050405020304" pitchFamily="18" charset="0"/>
              <a:ea typeface="Times New Roman" panose="02020603050405020304"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Software integration testing is the incremental integration testing of two or more integrated software components on a single platform to produce failures caused by interface defects.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The task of the integration test is to check that components or software applications, e.g. components in a software system or – one step up – software applications at the company level – interact without error.</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buNone/>
            </a:pPr>
            <a:r>
              <a:rPr lang="en-US" sz="1800" b="1" kern="100" dirty="0">
                <a:solidFill>
                  <a:srgbClr val="000000"/>
                </a:solidFill>
                <a:effectLst/>
                <a:latin typeface="Times New Roman" panose="02020603050405020304" pitchFamily="18" charset="0"/>
                <a:ea typeface="Calibri" panose="020F0502020204030204" pitchFamily="34" charset="0"/>
                <a:cs typeface="Mangal" panose="02040503050203030202" pitchFamily="18" charset="0"/>
              </a:rPr>
              <a:t>Test Results:</a:t>
            </a: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 </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All the test cases mentioned above passed successfully. No defects encountered.</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Bef>
                <a:spcPts val="1200"/>
              </a:spcBef>
              <a:spcAft>
                <a:spcPts val="300"/>
              </a:spcAft>
              <a:buNone/>
            </a:pPr>
            <a:r>
              <a:rPr lang="en-US" sz="1800" b="1" dirty="0">
                <a:solidFill>
                  <a:srgbClr val="000000"/>
                </a:solidFill>
                <a:effectLst/>
                <a:latin typeface="Times New Roman" panose="02020603050405020304" pitchFamily="18" charset="0"/>
                <a:ea typeface="Times New Roman" panose="02020603050405020304" pitchFamily="18" charset="0"/>
              </a:rPr>
              <a:t>Acceptance Testing</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800"/>
              </a:spcAft>
              <a:buNone/>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User Acceptance Testing is a critical phase of any project and requires significant participation by the end user. It also ensures that the system meets the functional requirements.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50000"/>
              </a:lnSpc>
              <a:spcAft>
                <a:spcPts val="800"/>
              </a:spcAft>
            </a:pPr>
            <a:r>
              <a:rPr lang="en-US" sz="1800" b="1" kern="100" dirty="0">
                <a:solidFill>
                  <a:srgbClr val="000000"/>
                </a:solidFill>
                <a:effectLst/>
                <a:latin typeface="Times New Roman" panose="02020603050405020304" pitchFamily="18" charset="0"/>
                <a:ea typeface="Calibri" panose="020F0502020204030204" pitchFamily="34" charset="0"/>
                <a:cs typeface="Mangal" panose="02040503050203030202" pitchFamily="18" charset="0"/>
              </a:rPr>
              <a:t>Test Results:</a:t>
            </a:r>
            <a:r>
              <a:rPr lang="en-US" sz="1800" b="1" kern="100" dirty="0">
                <a:effectLst/>
                <a:latin typeface="Times New Roman" panose="02020603050405020304" pitchFamily="18" charset="0"/>
                <a:ea typeface="Calibri" panose="020F0502020204030204" pitchFamily="34" charset="0"/>
                <a:cs typeface="Mangal" panose="02040503050203030202" pitchFamily="18" charset="0"/>
              </a:rPr>
              <a:t> </a:t>
            </a:r>
            <a:r>
              <a:rPr lang="en-US" sz="1800" kern="100" dirty="0">
                <a:effectLst/>
                <a:latin typeface="Times New Roman" panose="02020603050405020304" pitchFamily="18" charset="0"/>
                <a:ea typeface="Calibri" panose="020F0502020204030204" pitchFamily="34" charset="0"/>
                <a:cs typeface="Mangal" panose="02040503050203030202" pitchFamily="18" charset="0"/>
              </a:rPr>
              <a:t>All the test cases mentioned above passed successfully. No defects encountered.</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349854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840DA-FC8B-0941-7559-24432868F765}"/>
              </a:ext>
            </a:extLst>
          </p:cNvPr>
          <p:cNvSpPr>
            <a:spLocks noGrp="1"/>
          </p:cNvSpPr>
          <p:nvPr>
            <p:ph type="title"/>
          </p:nvPr>
        </p:nvSpPr>
        <p:spPr>
          <a:xfrm>
            <a:off x="1747350" y="525787"/>
            <a:ext cx="8911687" cy="1280890"/>
          </a:xfrm>
        </p:spPr>
        <p:txBody>
          <a:bodyPr/>
          <a:lstStyle/>
          <a:p>
            <a:pPr algn="ctr"/>
            <a:r>
              <a:rPr lang="en-US" sz="3600" b="1" dirty="0">
                <a:latin typeface="Times New Roman" panose="02020603050405020304" pitchFamily="18" charset="0"/>
                <a:cs typeface="Times New Roman" panose="02020603050405020304" pitchFamily="18" charset="0"/>
              </a:rPr>
              <a:t>Conclusion </a:t>
            </a:r>
            <a:br>
              <a:rPr lang="en-US" sz="3600" b="1" dirty="0"/>
            </a:br>
            <a:endParaRPr lang="en-IN" dirty="0"/>
          </a:p>
        </p:txBody>
      </p:sp>
      <p:sp>
        <p:nvSpPr>
          <p:cNvPr id="3" name="TextBox 2">
            <a:extLst>
              <a:ext uri="{FF2B5EF4-FFF2-40B4-BE49-F238E27FC236}">
                <a16:creationId xmlns:a16="http://schemas.microsoft.com/office/drawing/2014/main" id="{359D895F-7428-3897-29A2-9C099975D6F7}"/>
              </a:ext>
            </a:extLst>
          </p:cNvPr>
          <p:cNvSpPr txBox="1"/>
          <p:nvPr/>
        </p:nvSpPr>
        <p:spPr>
          <a:xfrm>
            <a:off x="1349245" y="1983658"/>
            <a:ext cx="9707895" cy="2031325"/>
          </a:xfrm>
          <a:prstGeom prst="rect">
            <a:avLst/>
          </a:prstGeom>
          <a:noFill/>
        </p:spPr>
        <p:txBody>
          <a:bodyPr wrap="square" rtlCol="0">
            <a:spAutoFit/>
          </a:bodyPr>
          <a:lstStyle/>
          <a:p>
            <a:pPr algn="just">
              <a:lnSpc>
                <a:spcPct val="150000"/>
              </a:lnSpc>
            </a:pPr>
            <a:r>
              <a:rPr lang="en-US" sz="1800" kern="100" dirty="0">
                <a:effectLst/>
                <a:latin typeface="Times New Roman" panose="02020603050405020304" pitchFamily="18" charset="0"/>
                <a:ea typeface="Calibri" panose="020F0502020204030204" pitchFamily="34" charset="0"/>
                <a:cs typeface="Mangal" panose="02040503050203030202" pitchFamily="18" charset="0"/>
              </a:rPr>
              <a:t>          In conclusion, the "Spark-Based Big Data Analytics Framework for Competitive Intelligence" project represents a significant step towards empowering organizations with the tools needed to navigate and thrive in competitive markets. The integration of Apache Spark ensures efficiency, scalability, and real-time insights, providing a competitive edge in strategic decision-making.</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4082532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2">
            <a:extLst>
              <a:ext uri="{FF2B5EF4-FFF2-40B4-BE49-F238E27FC236}">
                <a16:creationId xmlns:a16="http://schemas.microsoft.com/office/drawing/2014/main" id="{934BD8BC-4713-C954-C676-EF0CC2854181}"/>
              </a:ext>
            </a:extLst>
          </p:cNvPr>
          <p:cNvPicPr>
            <a:picLocks noChangeAspect="1"/>
          </p:cNvPicPr>
          <p:nvPr/>
        </p:nvPicPr>
        <p:blipFill>
          <a:blip r:embed="rId2">
            <a:extLst>
              <a:ext uri="{BEBA8EAE-BF5A-486C-A8C5-ECC9F3942E4B}">
                <a14:imgProps xmlns:a14="http://schemas.microsoft.com/office/drawing/2010/main">
                  <a14:imgLayer r:embed="rId3">
                    <a14:imgEffect>
                      <a14:artisticGlowEdges/>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232888" y="941439"/>
            <a:ext cx="6616897" cy="4618038"/>
          </a:xfrm>
          <a:prstGeom prst="rect">
            <a:avLst/>
          </a:prstGeom>
        </p:spPr>
      </p:pic>
    </p:spTree>
    <p:extLst>
      <p:ext uri="{BB962C8B-B14F-4D97-AF65-F5344CB8AC3E}">
        <p14:creationId xmlns:p14="http://schemas.microsoft.com/office/powerpoint/2010/main" val="56088734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383</TotalTime>
  <Words>2510</Words>
  <Application>Microsoft Office PowerPoint</Application>
  <PresentationFormat>Widescreen</PresentationFormat>
  <Paragraphs>147</Paragraphs>
  <Slides>28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Century Gothic</vt:lpstr>
      <vt:lpstr>Liberation Serif</vt:lpstr>
      <vt:lpstr>Symbol</vt:lpstr>
      <vt:lpstr>Times New Roman</vt:lpstr>
      <vt:lpstr>Wingdings 3</vt:lpstr>
      <vt:lpstr>Wisp</vt:lpstr>
      <vt:lpstr>PowerPoint Presentation</vt:lpstr>
      <vt:lpstr>Content</vt:lpstr>
      <vt:lpstr>Aim of the project  </vt:lpstr>
      <vt:lpstr>Abstract </vt:lpstr>
      <vt:lpstr>      Introduction </vt:lpstr>
      <vt:lpstr>PowerPoint Presentation</vt:lpstr>
      <vt:lpstr>Existing System </vt:lpstr>
      <vt:lpstr>Disadvantages:</vt:lpstr>
      <vt:lpstr>Proposed System </vt:lpstr>
      <vt:lpstr>Advantages: </vt:lpstr>
      <vt:lpstr>Modules </vt:lpstr>
      <vt:lpstr>System Requirements</vt:lpstr>
      <vt:lpstr>Feasibility Study</vt:lpstr>
      <vt:lpstr>PowerPoint Presentation</vt:lpstr>
      <vt:lpstr>Algorithms  </vt:lpstr>
      <vt:lpstr>PowerPoint Presentation</vt:lpstr>
      <vt:lpstr>PowerPoint Presentation</vt:lpstr>
      <vt:lpstr>UML Diagrams </vt:lpstr>
      <vt:lpstr>PowerPoint Presentation</vt:lpstr>
      <vt:lpstr>PowerPoint Presentation</vt:lpstr>
      <vt:lpstr>PowerPoint Presentation</vt:lpstr>
      <vt:lpstr>PowerPoint Presentation</vt:lpstr>
      <vt:lpstr>PowerPoint Presentation</vt:lpstr>
      <vt:lpstr>PowerPoint Presentation</vt:lpstr>
      <vt:lpstr>System Testing</vt:lpstr>
      <vt:lpstr>PowerPoint Presentation</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Bhavani Yadav</dc:creator>
  <cp:lastModifiedBy>Bhavani Yadav</cp:lastModifiedBy>
  <cp:revision>23</cp:revision>
  <dcterms:created xsi:type="dcterms:W3CDTF">2025-05-31T16:08:33Z</dcterms:created>
  <dcterms:modified xsi:type="dcterms:W3CDTF">2025-06-25T08:14:25Z</dcterms:modified>
</cp:coreProperties>
</file>